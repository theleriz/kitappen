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5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4630400" cy="8229600"/>
  <p:notesSz cx="8229600" cy="14630400"/>
  <p:embeddedFontLst>
    <p:embeddedFont>
      <p:font typeface="Franklin Gothic Medium" panose="020B0603020102020204" pitchFamily="34" charset="0"/>
      <p:regular r:id="rId8"/>
      <p:italic r:id="rId9"/>
    </p:embeddedFont>
    <p:embeddedFont>
      <p:font typeface="Open Sans" panose="020B0606030504020204" pitchFamily="34" charset="0"/>
      <p:regular r:id="rId10"/>
    </p:embeddedFont>
    <p:embeddedFont>
      <p:font typeface="Tw Cen MT" panose="020B0602020104020603" pitchFamily="34" charset="0"/>
      <p:regular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9425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01215" y="1560942"/>
            <a:ext cx="10427971" cy="3011056"/>
          </a:xfrm>
        </p:spPr>
        <p:txBody>
          <a:bodyPr anchor="b">
            <a:normAutofit/>
          </a:bodyPr>
          <a:lstStyle>
            <a:lvl1pPr algn="ctr">
              <a:defRPr sz="57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01215" y="4663441"/>
            <a:ext cx="10427971" cy="1645919"/>
          </a:xfrm>
        </p:spPr>
        <p:txBody>
          <a:bodyPr>
            <a:normAutofit/>
          </a:bodyPr>
          <a:lstStyle>
            <a:lvl1pPr marL="0" indent="0" algn="ctr">
              <a:buNone/>
              <a:defRPr sz="2640">
                <a:solidFill>
                  <a:schemeClr val="bg1">
                    <a:lumMod val="50000"/>
                  </a:schemeClr>
                </a:solidFill>
              </a:defRPr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47370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1096529" y="2840511"/>
            <a:ext cx="12436591" cy="41089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27835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29" y="994276"/>
            <a:ext cx="12422102" cy="3284183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529" y="4388949"/>
            <a:ext cx="12422102" cy="164182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43577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096531" y="742221"/>
            <a:ext cx="12437341" cy="19154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1096529" y="2840511"/>
            <a:ext cx="6127231" cy="41089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7406640" y="2840511"/>
            <a:ext cx="6126480" cy="41089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40293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096531" y="742221"/>
            <a:ext cx="12437341" cy="19154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5594" y="2845222"/>
            <a:ext cx="5848169" cy="815993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312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1096530" y="3661215"/>
            <a:ext cx="6127232" cy="3288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75708" y="2845222"/>
            <a:ext cx="5858165" cy="815993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312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7406641" y="3661215"/>
            <a:ext cx="6126481" cy="3288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42097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91340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18524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30" y="731520"/>
            <a:ext cx="4722826" cy="2427902"/>
          </a:xfrm>
        </p:spPr>
        <p:txBody>
          <a:bodyPr anchor="b"/>
          <a:lstStyle>
            <a:lvl1pPr algn="ctr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6093675" y="731521"/>
            <a:ext cx="7440196" cy="62179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29" y="3159422"/>
            <a:ext cx="4722827" cy="3790018"/>
          </a:xfrm>
        </p:spPr>
        <p:txBody>
          <a:bodyPr/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26866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29" y="731520"/>
            <a:ext cx="7121963" cy="2427905"/>
          </a:xfrm>
        </p:spPr>
        <p:txBody>
          <a:bodyPr anchor="b"/>
          <a:lstStyle>
            <a:lvl1pPr algn="ctr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909763" y="731521"/>
            <a:ext cx="3906430" cy="621792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53" y="3159423"/>
            <a:ext cx="7121939" cy="3790016"/>
          </a:xfrm>
        </p:spPr>
        <p:txBody>
          <a:bodyPr/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42974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53" y="5147249"/>
            <a:ext cx="12437318" cy="973932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21693" y="837913"/>
            <a:ext cx="11787038" cy="3856963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29" y="6130474"/>
            <a:ext cx="12437342" cy="818966"/>
          </a:xfrm>
        </p:spPr>
        <p:txBody>
          <a:bodyPr/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80170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29" y="731519"/>
            <a:ext cx="12437342" cy="4112694"/>
          </a:xfrm>
        </p:spPr>
        <p:txBody>
          <a:bodyPr anchor="ctr"/>
          <a:lstStyle>
            <a:lvl1pPr algn="ctr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30" y="5045785"/>
            <a:ext cx="12437342" cy="1903656"/>
          </a:xfrm>
        </p:spPr>
        <p:txBody>
          <a:bodyPr anchor="ctr"/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28523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455" y="731520"/>
            <a:ext cx="11163302" cy="3591485"/>
          </a:xfrm>
        </p:spPr>
        <p:txBody>
          <a:bodyPr anchor="ctr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2064773" y="4332038"/>
            <a:ext cx="10502759" cy="713746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29" y="5247356"/>
            <a:ext cx="12437342" cy="170526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201786" y="904999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69070" y="3592294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2026046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30" y="2566466"/>
            <a:ext cx="12437342" cy="3014202"/>
          </a:xfrm>
        </p:spPr>
        <p:txBody>
          <a:bodyPr anchor="b"/>
          <a:lstStyle>
            <a:lvl1pPr algn="ctr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30" y="5594802"/>
            <a:ext cx="12437342" cy="1368773"/>
          </a:xfrm>
        </p:spPr>
        <p:txBody>
          <a:bodyPr anchor="t"/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64021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096529" y="731520"/>
            <a:ext cx="12437342" cy="19261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096529" y="2840512"/>
            <a:ext cx="3958771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096529" y="3532027"/>
            <a:ext cx="3958771" cy="3417414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42868" y="2840512"/>
            <a:ext cx="3949825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5329618" y="3532027"/>
            <a:ext cx="3964021" cy="3417414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567957" y="2840512"/>
            <a:ext cx="3965914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9567957" y="3532027"/>
            <a:ext cx="3965914" cy="3417414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94055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096529" y="732927"/>
            <a:ext cx="12437342" cy="192470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096529" y="5045784"/>
            <a:ext cx="3955691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64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6529" y="2840512"/>
            <a:ext cx="3955691" cy="18288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096529" y="5737298"/>
            <a:ext cx="3955691" cy="1212142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31311" y="5045784"/>
            <a:ext cx="3962194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64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5329618" y="2840512"/>
            <a:ext cx="3964022" cy="18288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5329618" y="5737297"/>
            <a:ext cx="3964022" cy="1212143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567958" y="5045784"/>
            <a:ext cx="3960817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64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9567957" y="2840512"/>
            <a:ext cx="3965914" cy="18288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9567808" y="5737294"/>
            <a:ext cx="3966064" cy="1212145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75798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1096530" y="2840512"/>
            <a:ext cx="12437342" cy="41089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37435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731522"/>
            <a:ext cx="3063991" cy="621791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1096530" y="731522"/>
            <a:ext cx="9190469" cy="621791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219817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4653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05465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38360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15040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0116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4630404" cy="8229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6531" y="742221"/>
            <a:ext cx="12437341" cy="1915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530" y="2840512"/>
            <a:ext cx="12437342" cy="4108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14484" y="705993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6530" y="7059931"/>
            <a:ext cx="8007464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616814" y="7059931"/>
            <a:ext cx="917058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998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  <p:sldLayoutId id="2147483672" r:id="rId17"/>
    <p:sldLayoutId id="2147483673" r:id="rId18"/>
    <p:sldLayoutId id="2147483674" r:id="rId19"/>
    <p:sldLayoutId id="2147483675" r:id="rId20"/>
    <p:sldLayoutId id="2147483676" r:id="rId21"/>
    <p:sldLayoutId id="2147483677" r:id="rId22"/>
  </p:sldLayoutIdLst>
  <p:hf sldNum="0" hdr="0" ftr="0" dt="0"/>
  <p:txStyles>
    <p:titleStyle>
      <a:lvl1pPr algn="ctr" defTabSz="1097280" rtl="0" eaLnBrk="1" latinLnBrk="0" hangingPunct="1">
        <a:lnSpc>
          <a:spcPct val="90000"/>
        </a:lnSpc>
        <a:spcBef>
          <a:spcPct val="0"/>
        </a:spcBef>
        <a:buNone/>
        <a:defRPr sz="432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120000"/>
        </a:lnSpc>
        <a:spcBef>
          <a:spcPts val="1200"/>
        </a:spcBef>
        <a:buClr>
          <a:schemeClr val="tx1"/>
        </a:buClr>
        <a:buFont typeface="Arial" panose="020B0604020202020204" pitchFamily="34" charset="0"/>
        <a:buChar char="•"/>
        <a:defRPr sz="2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216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92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68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68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68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68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68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68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6905" y="512802"/>
            <a:ext cx="12415599" cy="575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333F70"/>
                </a:solidFill>
                <a:latin typeface="Franklin Gothic Medium" panose="020B0603020102020204" pitchFamily="34" charset="0"/>
                <a:ea typeface="Unbounded Bold" pitchFamily="34" charset="-122"/>
                <a:cs typeface="Times New Roman" panose="02020603050405020304" pitchFamily="18" charset="0"/>
              </a:rPr>
              <a:t>BookTracker — Smart PDF Reading Tracker</a:t>
            </a:r>
            <a:endParaRPr lang="en-US" sz="3600" dirty="0">
              <a:latin typeface="Franklin Gothic Medium" panose="020B0603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56905" y="1388150"/>
            <a:ext cx="12716470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BookTracker is a web application for reading PDF books online with </a:t>
            </a:r>
            <a:r>
              <a:rPr lang="en-US" sz="14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automatic reading time tracking using Computer Vision (CV)</a:t>
            </a: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956905" y="1879878"/>
            <a:ext cx="2764393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33F70"/>
                </a:solidFill>
                <a:latin typeface="Franklin Gothic Medium" panose="020B0603020102020204" pitchFamily="34" charset="0"/>
                <a:ea typeface="Unbounded Bold" pitchFamily="34" charset="-122"/>
                <a:cs typeface="Times New Roman" panose="02020603050405020304" pitchFamily="18" charset="0"/>
              </a:rPr>
              <a:t>Key Idea</a:t>
            </a:r>
            <a:endParaRPr lang="en-US" sz="2150" dirty="0">
              <a:latin typeface="Franklin Gothic Medium" panose="020B0603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56905" y="2449949"/>
            <a:ext cx="12716470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system detects whether a user is actually reading (via webcam analysis) and tracks real reading time.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56905" y="2941677"/>
            <a:ext cx="2764393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33F70"/>
                </a:solidFill>
                <a:latin typeface="Franklin Gothic Medium" panose="020B0603020102020204" pitchFamily="34" charset="0"/>
                <a:ea typeface="Unbounded Bold" pitchFamily="34" charset="-122"/>
                <a:cs typeface="Times New Roman" panose="02020603050405020304" pitchFamily="18" charset="0"/>
              </a:rPr>
              <a:t>Core Features</a:t>
            </a:r>
            <a:endParaRPr lang="en-US" sz="2150" dirty="0">
              <a:latin typeface="Franklin Gothic Medium" panose="020B0603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913930" y="3511749"/>
            <a:ext cx="12716470" cy="1545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PDF reading directly in browser</a:t>
            </a:r>
            <a:endParaRPr lang="en-US" sz="14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Personal library (upload &amp; manage books)</a:t>
            </a:r>
            <a:endParaRPr lang="en-US" sz="14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Notes system linked to books</a:t>
            </a:r>
            <a:endParaRPr lang="en-US" sz="14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CV-based reading session tracking</a:t>
            </a:r>
            <a:endParaRPr lang="en-US" sz="14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Reading statistics (time, streaks, averages)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56905" y="5281732"/>
            <a:ext cx="2764393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33F70"/>
                </a:solidFill>
                <a:latin typeface="Franklin Gothic Medium" panose="020B0603020102020204" pitchFamily="34" charset="0"/>
                <a:ea typeface="Unbounded Bold" pitchFamily="34" charset="-122"/>
                <a:cs typeface="Times New Roman" panose="02020603050405020304" pitchFamily="18" charset="0"/>
              </a:rPr>
              <a:t>Tech Stack</a:t>
            </a:r>
            <a:endParaRPr lang="en-US" sz="2150" dirty="0">
              <a:latin typeface="Franklin Gothic Medium" panose="020B0603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913930" y="5756792"/>
            <a:ext cx="12716470" cy="1864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Frontend:</a:t>
            </a: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Angular (SPA)</a:t>
            </a:r>
            <a:endParaRPr lang="en-US" sz="14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Backend:</a:t>
            </a: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Django + DRF</a:t>
            </a:r>
            <a:endParaRPr lang="en-US" sz="14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DB:</a:t>
            </a: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PostgreSQL</a:t>
            </a:r>
            <a:endParaRPr lang="en-US" sz="14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Storage:</a:t>
            </a: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MinIO (S3)</a:t>
            </a:r>
            <a:endParaRPr lang="en-US" sz="14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CV:</a:t>
            </a: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MediaPipe + OpenCV</a:t>
            </a:r>
            <a:endParaRPr lang="en-US" sz="14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Deployment:</a:t>
            </a: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Docker + Nginx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9183" y="586621"/>
            <a:ext cx="9991130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b="1" dirty="0">
                <a:solidFill>
                  <a:srgbClr val="333F70"/>
                </a:solidFill>
                <a:latin typeface="Arial" panose="020B0604020202020204" pitchFamily="34" charset="0"/>
                <a:ea typeface="Unbounded Bold" pitchFamily="34" charset="-122"/>
                <a:cs typeface="Arial" panose="020B0604020202020204" pitchFamily="34" charset="0"/>
              </a:rPr>
              <a:t>Frontend Implementation (Angular)</a:t>
            </a:r>
            <a:endParaRPr lang="en-US" sz="3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79183" y="1208842"/>
            <a:ext cx="4096941" cy="338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33F70"/>
                </a:solidFill>
                <a:latin typeface="Arial" panose="020B0604020202020204" pitchFamily="34" charset="0"/>
                <a:ea typeface="Unbounded Bold" pitchFamily="34" charset="-122"/>
                <a:cs typeface="Arial" panose="020B0604020202020204" pitchFamily="34" charset="0"/>
              </a:rPr>
              <a:t>Requirements Coverage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79183" y="1763673"/>
            <a:ext cx="4061341" cy="2621875"/>
          </a:xfrm>
          <a:prstGeom prst="roundRect">
            <a:avLst>
              <a:gd name="adj" fmla="val 2896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67539" y="1952030"/>
            <a:ext cx="542211" cy="542211"/>
          </a:xfrm>
          <a:prstGeom prst="roundRect">
            <a:avLst>
              <a:gd name="adj" fmla="val 16862597"/>
            </a:avLst>
          </a:prstGeom>
          <a:solidFill>
            <a:srgbClr val="26A68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6606" y="2101096"/>
            <a:ext cx="243959" cy="2439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67539" y="2638187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Arial" panose="020B0604020202020204" pitchFamily="34" charset="0"/>
                <a:ea typeface="Unbounded Bold" pitchFamily="34" charset="-122"/>
                <a:cs typeface="Arial" panose="020B0604020202020204" pitchFamily="34" charset="0"/>
              </a:rPr>
              <a:t>API Interaction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267539" y="3006923"/>
            <a:ext cx="3684627" cy="829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Services (BookService, NoteService, ReadingService, AuthService)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requests handled via </a:t>
            </a:r>
            <a:r>
              <a:rPr lang="en-US" sz="14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HttpClient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284470" y="1763673"/>
            <a:ext cx="4061341" cy="2621875"/>
          </a:xfrm>
          <a:prstGeom prst="roundRect">
            <a:avLst>
              <a:gd name="adj" fmla="val 2896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72827" y="1952030"/>
            <a:ext cx="542211" cy="542211"/>
          </a:xfrm>
          <a:prstGeom prst="roundRect">
            <a:avLst>
              <a:gd name="adj" fmla="val 16862597"/>
            </a:avLst>
          </a:prstGeom>
          <a:solidFill>
            <a:srgbClr val="26A688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21893" y="2101096"/>
            <a:ext cx="243959" cy="2439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72827" y="2638187"/>
            <a:ext cx="2295882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Arial" panose="020B0604020202020204" pitchFamily="34" charset="0"/>
                <a:ea typeface="Unbounded Bold" pitchFamily="34" charset="-122"/>
                <a:cs typeface="Arial" panose="020B0604020202020204" pitchFamily="34" charset="0"/>
              </a:rPr>
              <a:t>Click Events (≥4)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472827" y="3006923"/>
            <a:ext cx="3684627" cy="1190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Upload book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Create/edit/delete note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Start/Stop reading session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Login/Register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9489758" y="1763673"/>
            <a:ext cx="4061341" cy="2621875"/>
          </a:xfrm>
          <a:prstGeom prst="roundRect">
            <a:avLst>
              <a:gd name="adj" fmla="val 2896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678114" y="1952030"/>
            <a:ext cx="542211" cy="542211"/>
          </a:xfrm>
          <a:prstGeom prst="roundRect">
            <a:avLst>
              <a:gd name="adj" fmla="val 16862597"/>
            </a:avLst>
          </a:prstGeom>
          <a:solidFill>
            <a:srgbClr val="26A688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27181" y="2101096"/>
            <a:ext cx="243959" cy="24395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78114" y="2638187"/>
            <a:ext cx="2570083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Arial" panose="020B0604020202020204" pitchFamily="34" charset="0"/>
                <a:ea typeface="Unbounded Bold" pitchFamily="34" charset="-122"/>
                <a:cs typeface="Arial" panose="020B0604020202020204" pitchFamily="34" charset="0"/>
              </a:rPr>
              <a:t>Forms [(ngModel)]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9678114" y="3006923"/>
            <a:ext cx="3684627" cy="1190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Login form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Register form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Note creation/edit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Book upload metadata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1079183" y="4547473"/>
            <a:ext cx="4061341" cy="1605677"/>
          </a:xfrm>
          <a:prstGeom prst="roundRect">
            <a:avLst>
              <a:gd name="adj" fmla="val 4728"/>
            </a:avLst>
          </a:prstGeom>
          <a:solidFill>
            <a:srgbClr val="FFFFFF"/>
          </a:solidFill>
          <a:ln w="22860">
            <a:solidFill>
              <a:srgbClr val="BCDBD4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1282779" y="4751070"/>
            <a:ext cx="266188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Arial" panose="020B0604020202020204" pitchFamily="34" charset="0"/>
                <a:ea typeface="Unbounded Bold" pitchFamily="34" charset="-122"/>
                <a:cs typeface="Arial" panose="020B0604020202020204" pitchFamily="34" charset="0"/>
              </a:rPr>
              <a:t>Routing (≥3 routes)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1282779" y="5119807"/>
            <a:ext cx="3654147" cy="829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/library, /my-library, /reader/:id, /notes, /track, /statistics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Protected via </a:t>
            </a:r>
            <a:r>
              <a:rPr lang="en-US" sz="14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AuthGuard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5284470" y="4547473"/>
            <a:ext cx="4061341" cy="1605677"/>
          </a:xfrm>
          <a:prstGeom prst="roundRect">
            <a:avLst>
              <a:gd name="adj" fmla="val 4728"/>
            </a:avLst>
          </a:prstGeom>
          <a:solidFill>
            <a:srgbClr val="FFFFFF"/>
          </a:solidFill>
          <a:ln w="22860">
            <a:solidFill>
              <a:srgbClr val="BCDBD4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488067" y="4751070"/>
            <a:ext cx="3363397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Arial" panose="020B0604020202020204" pitchFamily="34" charset="0"/>
                <a:ea typeface="Unbounded Bold" pitchFamily="34" charset="-122"/>
                <a:cs typeface="Arial" panose="020B0604020202020204" pitchFamily="34" charset="0"/>
              </a:rPr>
              <a:t>Modern Angular Syntax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5488067" y="5119807"/>
            <a:ext cx="3654147" cy="829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@for → book &amp; note lists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@if → conditional UI (loading, errors, states)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9489758" y="4547473"/>
            <a:ext cx="4061341" cy="1605677"/>
          </a:xfrm>
          <a:prstGeom prst="roundRect">
            <a:avLst>
              <a:gd name="adj" fmla="val 4728"/>
            </a:avLst>
          </a:prstGeom>
          <a:solidFill>
            <a:srgbClr val="FFFFFF"/>
          </a:solidFill>
          <a:ln w="22860">
            <a:solidFill>
              <a:srgbClr val="BCDBD4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9693354" y="4751070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Arial" panose="020B0604020202020204" pitchFamily="34" charset="0"/>
                <a:ea typeface="Unbounded Bold" pitchFamily="34" charset="-122"/>
                <a:cs typeface="Arial" panose="020B0604020202020204" pitchFamily="34" charset="0"/>
              </a:rPr>
              <a:t>Authentication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9693354" y="5119807"/>
            <a:ext cx="3654147" cy="56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JWT (login/logout)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HTTP Interceptor</a:t>
            </a: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adds Bearer token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1079183" y="6297097"/>
            <a:ext cx="6163985" cy="1345883"/>
          </a:xfrm>
          <a:prstGeom prst="roundRect">
            <a:avLst>
              <a:gd name="adj" fmla="val 5641"/>
            </a:avLst>
          </a:prstGeom>
          <a:solidFill>
            <a:srgbClr val="FFFFFF"/>
          </a:solidFill>
          <a:ln w="22860">
            <a:solidFill>
              <a:srgbClr val="BCDBD4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1282779" y="6500693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Arial" panose="020B0604020202020204" pitchFamily="34" charset="0"/>
                <a:ea typeface="Unbounded Bold" pitchFamily="34" charset="-122"/>
                <a:cs typeface="Arial" panose="020B0604020202020204" pitchFamily="34" charset="0"/>
              </a:rPr>
              <a:t>Error Handling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5"/>
          <p:cNvSpPr/>
          <p:nvPr/>
        </p:nvSpPr>
        <p:spPr>
          <a:xfrm>
            <a:off x="1282779" y="6869430"/>
            <a:ext cx="5756791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API errors shown in UI (alerts/messages)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7387114" y="6297097"/>
            <a:ext cx="6163985" cy="1345883"/>
          </a:xfrm>
          <a:prstGeom prst="roundRect">
            <a:avLst>
              <a:gd name="adj" fmla="val 5641"/>
            </a:avLst>
          </a:prstGeom>
          <a:solidFill>
            <a:srgbClr val="FFFFFF"/>
          </a:solidFill>
          <a:ln w="22860">
            <a:solidFill>
              <a:srgbClr val="BCDBD4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7590711" y="6500693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Arial" panose="020B0604020202020204" pitchFamily="34" charset="0"/>
                <a:ea typeface="Unbounded Bold" pitchFamily="34" charset="-122"/>
                <a:cs typeface="Arial" panose="020B0604020202020204" pitchFamily="34" charset="0"/>
              </a:rPr>
              <a:t>UI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28"/>
          <p:cNvSpPr/>
          <p:nvPr/>
        </p:nvSpPr>
        <p:spPr>
          <a:xfrm>
            <a:off x="7590711" y="6869430"/>
            <a:ext cx="5756791" cy="56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Navbar + navigation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Styled components (CSS/SCSS)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79677" y="522446"/>
            <a:ext cx="9286518" cy="46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b="1" dirty="0">
                <a:solidFill>
                  <a:srgbClr val="333F70"/>
                </a:solidFill>
                <a:latin typeface="Arial" panose="020B0604020202020204" pitchFamily="34" charset="0"/>
                <a:ea typeface="Unbounded Bold" pitchFamily="34" charset="-122"/>
                <a:cs typeface="Arial" panose="020B0604020202020204" pitchFamily="34" charset="0"/>
              </a:rPr>
              <a:t>Backend Implementation (Django + DRF)</a:t>
            </a:r>
            <a:endParaRPr lang="en-US" sz="2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179677" y="1026676"/>
            <a:ext cx="3373636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Arial" panose="020B0604020202020204" pitchFamily="34" charset="0"/>
                <a:ea typeface="Unbounded Bold" pitchFamily="34" charset="-122"/>
                <a:cs typeface="Arial" panose="020B0604020202020204" pitchFamily="34" charset="0"/>
              </a:rPr>
              <a:t>Requirements Coverage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179677" y="1452086"/>
            <a:ext cx="3358515" cy="2039303"/>
          </a:xfrm>
          <a:prstGeom prst="roundRect">
            <a:avLst>
              <a:gd name="adj" fmla="val 3066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36125" y="1608534"/>
            <a:ext cx="446484" cy="446484"/>
          </a:xfrm>
          <a:prstGeom prst="roundRect">
            <a:avLst>
              <a:gd name="adj" fmla="val 20477969"/>
            </a:avLst>
          </a:prstGeom>
          <a:solidFill>
            <a:srgbClr val="26A68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58879" y="1731288"/>
            <a:ext cx="200858" cy="200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36125" y="2152650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Arial" panose="020B0604020202020204" pitchFamily="34" charset="0"/>
                <a:ea typeface="Unbounded Bold" pitchFamily="34" charset="-122"/>
                <a:cs typeface="Arial" panose="020B0604020202020204" pitchFamily="34" charset="0"/>
              </a:rPr>
              <a:t>Models (≥4)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2336125" y="2443758"/>
            <a:ext cx="3045619" cy="891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Book</a:t>
            </a:r>
            <a:endParaRPr lang="en-US" sz="11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Note</a:t>
            </a:r>
            <a:endParaRPr lang="en-US" sz="11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ReadingSession</a:t>
            </a:r>
            <a:endParaRPr lang="en-US" sz="11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DailyStreak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635823" y="1452086"/>
            <a:ext cx="3358634" cy="2039303"/>
          </a:xfrm>
          <a:prstGeom prst="roundRect">
            <a:avLst>
              <a:gd name="adj" fmla="val 3066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92272" y="1608534"/>
            <a:ext cx="446484" cy="446484"/>
          </a:xfrm>
          <a:prstGeom prst="roundRect">
            <a:avLst>
              <a:gd name="adj" fmla="val 20477969"/>
            </a:avLst>
          </a:prstGeom>
          <a:solidFill>
            <a:srgbClr val="26A688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15025" y="1731288"/>
            <a:ext cx="200858" cy="2008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92272" y="2152650"/>
            <a:ext cx="2408634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Arial" panose="020B0604020202020204" pitchFamily="34" charset="0"/>
                <a:ea typeface="Unbounded Bold" pitchFamily="34" charset="-122"/>
                <a:cs typeface="Arial" panose="020B0604020202020204" pitchFamily="34" charset="0"/>
              </a:rPr>
              <a:t>Relationships (FK ≥2)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792272" y="2443758"/>
            <a:ext cx="3045738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Note → Book, User</a:t>
            </a:r>
            <a:endParaRPr lang="en-US" sz="11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ReadingSession → Book, User</a:t>
            </a:r>
            <a:endParaRPr lang="en-US" sz="11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DailyStreak → User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9092089" y="1452086"/>
            <a:ext cx="3358515" cy="2039303"/>
          </a:xfrm>
          <a:prstGeom prst="roundRect">
            <a:avLst>
              <a:gd name="adj" fmla="val 3066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248537" y="1608534"/>
            <a:ext cx="446484" cy="446484"/>
          </a:xfrm>
          <a:prstGeom prst="roundRect">
            <a:avLst>
              <a:gd name="adj" fmla="val 20477969"/>
            </a:avLst>
          </a:prstGeom>
          <a:solidFill>
            <a:srgbClr val="26A688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1290" y="1731288"/>
            <a:ext cx="200858" cy="20085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48537" y="2152650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Arial" panose="020B0604020202020204" pitchFamily="34" charset="0"/>
                <a:ea typeface="Unbounded Bold" pitchFamily="34" charset="-122"/>
                <a:cs typeface="Arial" panose="020B0604020202020204" pitchFamily="34" charset="0"/>
              </a:rPr>
              <a:t>Serializers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9248537" y="2443758"/>
            <a:ext cx="3045619" cy="428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ModelSerializer (Book, Note)</a:t>
            </a:r>
            <a:endParaRPr lang="en-US" sz="11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Serializer (ReadingPing, Stats)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2179677" y="3601283"/>
            <a:ext cx="5086707" cy="2046327"/>
          </a:xfrm>
          <a:prstGeom prst="roundRect">
            <a:avLst>
              <a:gd name="adj" fmla="val 3055"/>
            </a:avLst>
          </a:prstGeom>
          <a:solidFill>
            <a:srgbClr val="FFFFFF"/>
          </a:solidFill>
          <a:ln w="15240">
            <a:solidFill>
              <a:srgbClr val="BCDBD4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2343745" y="3765352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Arial" panose="020B0604020202020204" pitchFamily="34" charset="0"/>
                <a:ea typeface="Unbounded Bold" pitchFamily="34" charset="-122"/>
                <a:cs typeface="Arial" panose="020B0604020202020204" pitchFamily="34" charset="0"/>
              </a:rPr>
              <a:t>Views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2343745" y="4056459"/>
            <a:ext cx="4758571" cy="197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FBV (≥2):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2343745" y="4312206"/>
            <a:ext cx="4758571" cy="428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/reading/ping/</a:t>
            </a:r>
            <a:endParaRPr lang="en-US" sz="11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/reading/stop/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2343745" y="4799290"/>
            <a:ext cx="4758571" cy="197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CBV (≥2):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2343745" y="5055037"/>
            <a:ext cx="4758571" cy="428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Books API (CRUD)</a:t>
            </a:r>
            <a:endParaRPr lang="en-US" sz="11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Notes API (CRUD)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7364016" y="3601283"/>
            <a:ext cx="5086707" cy="2046327"/>
          </a:xfrm>
          <a:prstGeom prst="roundRect">
            <a:avLst>
              <a:gd name="adj" fmla="val 3055"/>
            </a:avLst>
          </a:prstGeom>
          <a:solidFill>
            <a:srgbClr val="FFFFFF"/>
          </a:solidFill>
          <a:ln w="15240">
            <a:solidFill>
              <a:srgbClr val="BCDBD4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7528084" y="3765352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Arial" panose="020B0604020202020204" pitchFamily="34" charset="0"/>
                <a:ea typeface="Unbounded Bold" pitchFamily="34" charset="-122"/>
                <a:cs typeface="Arial" panose="020B0604020202020204" pitchFamily="34" charset="0"/>
              </a:rPr>
              <a:t>CRUD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7528084" y="4056459"/>
            <a:ext cx="4758571" cy="428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 CRUD for Notes</a:t>
            </a:r>
            <a:endParaRPr lang="en-US" sz="11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 CRUD for Books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2179677" y="5745242"/>
            <a:ext cx="5086707" cy="1047750"/>
          </a:xfrm>
          <a:prstGeom prst="roundRect">
            <a:avLst>
              <a:gd name="adj" fmla="val 5967"/>
            </a:avLst>
          </a:prstGeom>
          <a:solidFill>
            <a:srgbClr val="FFFFFF"/>
          </a:solidFill>
          <a:ln w="15240">
            <a:solidFill>
              <a:srgbClr val="BCDBD4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2343745" y="5909310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Arial" panose="020B0604020202020204" pitchFamily="34" charset="0"/>
                <a:ea typeface="Unbounded Bold" pitchFamily="34" charset="-122"/>
                <a:cs typeface="Arial" panose="020B0604020202020204" pitchFamily="34" charset="0"/>
              </a:rPr>
              <a:t>Authentication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5"/>
          <p:cNvSpPr/>
          <p:nvPr/>
        </p:nvSpPr>
        <p:spPr>
          <a:xfrm>
            <a:off x="2343745" y="6200418"/>
            <a:ext cx="4758571" cy="428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JWT (SimpleJWT)</a:t>
            </a:r>
            <a:endParaRPr lang="en-US" sz="11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Login / Register / Refresh endpoints</a:t>
            </a:r>
            <a:endParaRPr lang="en-US" sz="1150" dirty="0"/>
          </a:p>
        </p:txBody>
      </p:sp>
      <p:sp>
        <p:nvSpPr>
          <p:cNvPr id="31" name="Shape 26"/>
          <p:cNvSpPr/>
          <p:nvPr/>
        </p:nvSpPr>
        <p:spPr>
          <a:xfrm>
            <a:off x="7364016" y="5745242"/>
            <a:ext cx="5086707" cy="1047750"/>
          </a:xfrm>
          <a:prstGeom prst="roundRect">
            <a:avLst>
              <a:gd name="adj" fmla="val 5967"/>
            </a:avLst>
          </a:prstGeom>
          <a:solidFill>
            <a:srgbClr val="FFFFFF"/>
          </a:solidFill>
          <a:ln w="15240">
            <a:solidFill>
              <a:srgbClr val="BCDBD4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7528084" y="5909310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Arial" panose="020B0604020202020204" pitchFamily="34" charset="0"/>
                <a:ea typeface="Unbounded Bold" pitchFamily="34" charset="-122"/>
                <a:cs typeface="Arial" panose="020B0604020202020204" pitchFamily="34" charset="0"/>
              </a:rPr>
              <a:t>User Binding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28"/>
          <p:cNvSpPr/>
          <p:nvPr/>
        </p:nvSpPr>
        <p:spPr>
          <a:xfrm>
            <a:off x="7528084" y="6200418"/>
            <a:ext cx="4758571" cy="197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objects linked via request.user</a:t>
            </a:r>
            <a:endParaRPr lang="en-US" sz="1150" dirty="0"/>
          </a:p>
        </p:txBody>
      </p:sp>
      <p:sp>
        <p:nvSpPr>
          <p:cNvPr id="34" name="Shape 29"/>
          <p:cNvSpPr/>
          <p:nvPr/>
        </p:nvSpPr>
        <p:spPr>
          <a:xfrm>
            <a:off x="2179677" y="6890623"/>
            <a:ext cx="5086707" cy="816412"/>
          </a:xfrm>
          <a:prstGeom prst="roundRect">
            <a:avLst>
              <a:gd name="adj" fmla="val 7658"/>
            </a:avLst>
          </a:prstGeom>
          <a:solidFill>
            <a:srgbClr val="FFFFFF"/>
          </a:solidFill>
          <a:ln w="15240">
            <a:solidFill>
              <a:srgbClr val="BCDBD4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2343745" y="7054691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Arial" panose="020B0604020202020204" pitchFamily="34" charset="0"/>
                <a:ea typeface="Unbounded Bold" pitchFamily="34" charset="-122"/>
                <a:cs typeface="Arial" panose="020B0604020202020204" pitchFamily="34" charset="0"/>
              </a:rPr>
              <a:t>CORS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31"/>
          <p:cNvSpPr/>
          <p:nvPr/>
        </p:nvSpPr>
        <p:spPr>
          <a:xfrm>
            <a:off x="2343745" y="7345799"/>
            <a:ext cx="4758571" cy="197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Configured for Angular dev server</a:t>
            </a:r>
            <a:endParaRPr lang="en-US" sz="1150" dirty="0"/>
          </a:p>
        </p:txBody>
      </p:sp>
      <p:sp>
        <p:nvSpPr>
          <p:cNvPr id="37" name="Shape 32"/>
          <p:cNvSpPr/>
          <p:nvPr/>
        </p:nvSpPr>
        <p:spPr>
          <a:xfrm>
            <a:off x="7364016" y="6890623"/>
            <a:ext cx="5086707" cy="816412"/>
          </a:xfrm>
          <a:prstGeom prst="roundRect">
            <a:avLst>
              <a:gd name="adj" fmla="val 7658"/>
            </a:avLst>
          </a:prstGeom>
          <a:solidFill>
            <a:srgbClr val="FFFFFF"/>
          </a:solidFill>
          <a:ln w="15240">
            <a:solidFill>
              <a:srgbClr val="BCDBD4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7528084" y="7054691"/>
            <a:ext cx="2296239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Arial" panose="020B0604020202020204" pitchFamily="34" charset="0"/>
                <a:ea typeface="Unbounded Bold" pitchFamily="34" charset="-122"/>
                <a:cs typeface="Arial" panose="020B0604020202020204" pitchFamily="34" charset="0"/>
              </a:rPr>
              <a:t>Postman Collection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34"/>
          <p:cNvSpPr/>
          <p:nvPr/>
        </p:nvSpPr>
        <p:spPr>
          <a:xfrm>
            <a:off x="7528084" y="7345799"/>
            <a:ext cx="4758571" cy="197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endpoints tested with example responses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1063" y="393383"/>
            <a:ext cx="7548443" cy="409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333F70"/>
                </a:solidFill>
                <a:latin typeface="Arial" panose="020B0604020202020204" pitchFamily="34" charset="0"/>
                <a:ea typeface="Unbounded Bold" pitchFamily="34" charset="-122"/>
                <a:cs typeface="Arial" panose="020B0604020202020204" pitchFamily="34" charset="0"/>
              </a:rPr>
              <a:t>Unique Feature: CV </a:t>
            </a:r>
            <a:r>
              <a:rPr lang="en-US" sz="2800" b="1" dirty="0">
                <a:solidFill>
                  <a:srgbClr val="333F70"/>
                </a:solidFill>
                <a:latin typeface="Arial" panose="020B0604020202020204" pitchFamily="34" charset="0"/>
                <a:ea typeface="Unbounded Bold" pitchFamily="34" charset="-122"/>
                <a:cs typeface="Arial" panose="020B0604020202020204" pitchFamily="34" charset="0"/>
              </a:rPr>
              <a:t>Reading</a:t>
            </a:r>
            <a:r>
              <a:rPr lang="en-US" sz="2550" b="1" dirty="0">
                <a:solidFill>
                  <a:srgbClr val="333F70"/>
                </a:solidFill>
                <a:latin typeface="Arial" panose="020B0604020202020204" pitchFamily="34" charset="0"/>
                <a:ea typeface="Unbounded Bold" pitchFamily="34" charset="-122"/>
                <a:cs typeface="Arial" panose="020B0604020202020204" pitchFamily="34" charset="0"/>
              </a:rPr>
              <a:t> Tracking</a:t>
            </a:r>
            <a:endParaRPr lang="en-US"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791063" y="833318"/>
            <a:ext cx="1966912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333F70"/>
                </a:solidFill>
                <a:latin typeface="Arial" panose="020B0604020202020204" pitchFamily="34" charset="0"/>
                <a:ea typeface="Unbounded Bold" pitchFamily="34" charset="-122"/>
                <a:cs typeface="Arial" panose="020B0604020202020204" pitchFamily="34" charset="0"/>
              </a:rPr>
              <a:t>How It Works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922151" y="1389578"/>
            <a:ext cx="131088" cy="589955"/>
          </a:xfrm>
          <a:prstGeom prst="roundRect">
            <a:avLst>
              <a:gd name="adj" fmla="val 42015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91063" y="1303496"/>
            <a:ext cx="393383" cy="393383"/>
          </a:xfrm>
          <a:prstGeom prst="roundRect">
            <a:avLst>
              <a:gd name="adj" fmla="val 11622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89409" y="1401842"/>
            <a:ext cx="196691" cy="1966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60169" y="1323975"/>
            <a:ext cx="3109809" cy="466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Arial" panose="020B0604020202020204" pitchFamily="34" charset="0"/>
                <a:ea typeface="Unbounded Bold" pitchFamily="34" charset="-122"/>
                <a:cs typeface="Arial" panose="020B0604020202020204" pitchFamily="34" charset="0"/>
              </a:rPr>
              <a:t>User clicks "Start Reading"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118842" y="2252067"/>
            <a:ext cx="131088" cy="589955"/>
          </a:xfrm>
          <a:prstGeom prst="roundRect">
            <a:avLst>
              <a:gd name="adj" fmla="val 42015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987754" y="2165985"/>
            <a:ext cx="393383" cy="393383"/>
          </a:xfrm>
          <a:prstGeom prst="roundRect">
            <a:avLst>
              <a:gd name="adj" fmla="val 11622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86100" y="2264331"/>
            <a:ext cx="196691" cy="1966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56861" y="2186464"/>
            <a:ext cx="4726067" cy="20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Arial" panose="020B0604020202020204" pitchFamily="34" charset="0"/>
                <a:ea typeface="Unbounded Bold" pitchFamily="34" charset="-122"/>
                <a:cs typeface="Arial" panose="020B0604020202020204" pitchFamily="34" charset="0"/>
              </a:rPr>
              <a:t>Browser captures image every 15–30 seconds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3315533" y="3114556"/>
            <a:ext cx="131088" cy="589955"/>
          </a:xfrm>
          <a:prstGeom prst="roundRect">
            <a:avLst>
              <a:gd name="adj" fmla="val 42015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184446" y="3028474"/>
            <a:ext cx="393383" cy="393383"/>
          </a:xfrm>
          <a:prstGeom prst="roundRect">
            <a:avLst>
              <a:gd name="adj" fmla="val 11622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82791" y="3126819"/>
            <a:ext cx="196691" cy="19669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53552" y="3048953"/>
            <a:ext cx="4899541" cy="20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Arial" panose="020B0604020202020204" pitchFamily="34" charset="0"/>
                <a:ea typeface="Unbounded Bold" pitchFamily="34" charset="-122"/>
                <a:cs typeface="Arial" panose="020B0604020202020204" pitchFamily="34" charset="0"/>
              </a:rPr>
              <a:t>Frame sent to backend: POST /api/reading/ping/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3512225" y="3977045"/>
            <a:ext cx="131088" cy="589955"/>
          </a:xfrm>
          <a:prstGeom prst="roundRect">
            <a:avLst>
              <a:gd name="adj" fmla="val 42015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3381137" y="3890963"/>
            <a:ext cx="393383" cy="393383"/>
          </a:xfrm>
          <a:prstGeom prst="roundRect">
            <a:avLst>
              <a:gd name="adj" fmla="val 11622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79483" y="3989308"/>
            <a:ext cx="196691" cy="19669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850243" y="3911441"/>
            <a:ext cx="4470678" cy="20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Arial" panose="020B0604020202020204" pitchFamily="34" charset="0"/>
                <a:ea typeface="Unbounded Bold" pitchFamily="34" charset="-122"/>
                <a:cs typeface="Arial" panose="020B0604020202020204" pitchFamily="34" charset="0"/>
              </a:rPr>
              <a:t>CV module analyzes: Head tilt, Eye direction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3315533" y="4839533"/>
            <a:ext cx="131088" cy="589955"/>
          </a:xfrm>
          <a:prstGeom prst="roundRect">
            <a:avLst>
              <a:gd name="adj" fmla="val 42015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3184446" y="4753451"/>
            <a:ext cx="393383" cy="393383"/>
          </a:xfrm>
          <a:prstGeom prst="roundRect">
            <a:avLst>
              <a:gd name="adj" fmla="val 11622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82791" y="4851797"/>
            <a:ext cx="196691" cy="19669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653552" y="4773930"/>
            <a:ext cx="6766441" cy="20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Arial" panose="020B0604020202020204" pitchFamily="34" charset="0"/>
                <a:ea typeface="Unbounded Bold" pitchFamily="34" charset="-122"/>
                <a:cs typeface="Arial" panose="020B0604020202020204" pitchFamily="34" charset="0"/>
              </a:rPr>
              <a:t>Backend returns: { reading: true/false, confidence, total_seconds }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17"/>
          <p:cNvSpPr/>
          <p:nvPr/>
        </p:nvSpPr>
        <p:spPr>
          <a:xfrm>
            <a:off x="3118842" y="5702022"/>
            <a:ext cx="131088" cy="589955"/>
          </a:xfrm>
          <a:prstGeom prst="roundRect">
            <a:avLst>
              <a:gd name="adj" fmla="val 42015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2987754" y="5615940"/>
            <a:ext cx="393383" cy="393383"/>
          </a:xfrm>
          <a:prstGeom prst="roundRect">
            <a:avLst>
              <a:gd name="adj" fmla="val 11622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86100" y="5714286"/>
            <a:ext cx="196691" cy="196691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456861" y="5636419"/>
            <a:ext cx="3688913" cy="20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Arial" panose="020B0604020202020204" pitchFamily="34" charset="0"/>
                <a:ea typeface="Unbounded Bold" pitchFamily="34" charset="-122"/>
                <a:cs typeface="Arial" panose="020B0604020202020204" pitchFamily="34" charset="0"/>
              </a:rPr>
              <a:t>If reading → time is added to session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0"/>
          <p:cNvSpPr/>
          <p:nvPr/>
        </p:nvSpPr>
        <p:spPr>
          <a:xfrm>
            <a:off x="2791063" y="6405801"/>
            <a:ext cx="2482215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333F70"/>
                </a:solidFill>
                <a:latin typeface="Arial" panose="020B0604020202020204" pitchFamily="34" charset="0"/>
                <a:ea typeface="Unbounded Bold" pitchFamily="34" charset="-122"/>
                <a:cs typeface="Arial" panose="020B0604020202020204" pitchFamily="34" charset="0"/>
              </a:rPr>
              <a:t>Technical Highlights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2791063" y="6765369"/>
            <a:ext cx="4486275" cy="497562"/>
          </a:xfrm>
          <a:prstGeom prst="roundRect">
            <a:avLst>
              <a:gd name="adj" fmla="val 14702"/>
            </a:avLst>
          </a:prstGeom>
          <a:solidFill>
            <a:srgbClr val="FFFFFF"/>
          </a:solidFill>
          <a:ln w="15240">
            <a:solidFill>
              <a:srgbClr val="BCDBD4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2775823" y="6765369"/>
            <a:ext cx="60960" cy="497562"/>
          </a:xfrm>
          <a:prstGeom prst="roundRect">
            <a:avLst>
              <a:gd name="adj" fmla="val 90349"/>
            </a:avLst>
          </a:prstGeom>
          <a:solidFill>
            <a:srgbClr val="26A688"/>
          </a:solidFill>
          <a:ln/>
        </p:spPr>
      </p:sp>
      <p:sp>
        <p:nvSpPr>
          <p:cNvPr id="31" name="Text 23"/>
          <p:cNvSpPr/>
          <p:nvPr/>
        </p:nvSpPr>
        <p:spPr>
          <a:xfrm>
            <a:off x="2983111" y="6911697"/>
            <a:ext cx="2196227" cy="20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Arial" panose="020B0604020202020204" pitchFamily="34" charset="0"/>
                <a:ea typeface="Unbounded Bold" pitchFamily="34" charset="-122"/>
                <a:cs typeface="Arial" panose="020B0604020202020204" pitchFamily="34" charset="0"/>
              </a:rPr>
              <a:t>MediaPipe FaceMesh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7353062" y="6765369"/>
            <a:ext cx="4486275" cy="497562"/>
          </a:xfrm>
          <a:prstGeom prst="roundRect">
            <a:avLst>
              <a:gd name="adj" fmla="val 14702"/>
            </a:avLst>
          </a:prstGeom>
          <a:solidFill>
            <a:srgbClr val="FFFFFF"/>
          </a:solidFill>
          <a:ln w="15240">
            <a:solidFill>
              <a:srgbClr val="BCDBD4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7337822" y="6765369"/>
            <a:ext cx="60960" cy="497562"/>
          </a:xfrm>
          <a:prstGeom prst="roundRect">
            <a:avLst>
              <a:gd name="adj" fmla="val 90349"/>
            </a:avLst>
          </a:prstGeom>
          <a:solidFill>
            <a:srgbClr val="26A688"/>
          </a:solidFill>
          <a:ln/>
        </p:spPr>
      </p:sp>
      <p:sp>
        <p:nvSpPr>
          <p:cNvPr id="34" name="Text 26"/>
          <p:cNvSpPr/>
          <p:nvPr/>
        </p:nvSpPr>
        <p:spPr>
          <a:xfrm>
            <a:off x="7545110" y="6911697"/>
            <a:ext cx="3937040" cy="20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Arial" panose="020B0604020202020204" pitchFamily="34" charset="0"/>
                <a:ea typeface="Unbounded Bold" pitchFamily="34" charset="-122"/>
                <a:cs typeface="Arial" panose="020B0604020202020204" pitchFamily="34" charset="0"/>
              </a:rPr>
              <a:t>ThreadPoolExecutor (non-blocking CV)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2791063" y="7338655"/>
            <a:ext cx="4486275" cy="497562"/>
          </a:xfrm>
          <a:prstGeom prst="roundRect">
            <a:avLst>
              <a:gd name="adj" fmla="val 14702"/>
            </a:avLst>
          </a:prstGeom>
          <a:solidFill>
            <a:srgbClr val="FFFFFF"/>
          </a:solidFill>
          <a:ln w="15240">
            <a:solidFill>
              <a:srgbClr val="BCDBD4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2775823" y="7338655"/>
            <a:ext cx="60960" cy="497562"/>
          </a:xfrm>
          <a:prstGeom prst="roundRect">
            <a:avLst>
              <a:gd name="adj" fmla="val 90349"/>
            </a:avLst>
          </a:prstGeom>
          <a:solidFill>
            <a:srgbClr val="26A688"/>
          </a:solidFill>
          <a:ln/>
        </p:spPr>
      </p:sp>
      <p:sp>
        <p:nvSpPr>
          <p:cNvPr id="37" name="Text 29"/>
          <p:cNvSpPr/>
          <p:nvPr/>
        </p:nvSpPr>
        <p:spPr>
          <a:xfrm>
            <a:off x="2983111" y="7484983"/>
            <a:ext cx="3755708" cy="20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Arial" panose="020B0604020202020204" pitchFamily="34" charset="0"/>
                <a:ea typeface="Unbounded Bold" pitchFamily="34" charset="-122"/>
                <a:cs typeface="Arial" panose="020B0604020202020204" pitchFamily="34" charset="0"/>
              </a:rPr>
              <a:t>Lightweight frames (320×240 JPEG)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7353062" y="7338655"/>
            <a:ext cx="4486275" cy="497562"/>
          </a:xfrm>
          <a:prstGeom prst="roundRect">
            <a:avLst>
              <a:gd name="adj" fmla="val 14702"/>
            </a:avLst>
          </a:prstGeom>
          <a:solidFill>
            <a:srgbClr val="FFFFFF"/>
          </a:solidFill>
          <a:ln w="15240">
            <a:solidFill>
              <a:srgbClr val="BCDBD4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7337822" y="7338655"/>
            <a:ext cx="60960" cy="497562"/>
          </a:xfrm>
          <a:prstGeom prst="roundRect">
            <a:avLst>
              <a:gd name="adj" fmla="val 90349"/>
            </a:avLst>
          </a:prstGeom>
          <a:solidFill>
            <a:srgbClr val="26A688"/>
          </a:solidFill>
          <a:ln/>
        </p:spPr>
      </p:sp>
      <p:sp>
        <p:nvSpPr>
          <p:cNvPr id="40" name="Text 32"/>
          <p:cNvSpPr/>
          <p:nvPr/>
        </p:nvSpPr>
        <p:spPr>
          <a:xfrm>
            <a:off x="7545110" y="7484983"/>
            <a:ext cx="3834289" cy="20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Arial" panose="020B0604020202020204" pitchFamily="34" charset="0"/>
                <a:ea typeface="Unbounded Bold" pitchFamily="34" charset="-122"/>
                <a:cs typeface="Arial" panose="020B0604020202020204" pitchFamily="34" charset="0"/>
              </a:rPr>
              <a:t>No WebSockets → simple REST polling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611" y="589717"/>
            <a:ext cx="1238309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33F70"/>
                </a:solidFill>
                <a:latin typeface="Arial" panose="020B0604020202020204" pitchFamily="34" charset="0"/>
                <a:ea typeface="Unbounded Bold" pitchFamily="34" charset="-122"/>
                <a:cs typeface="Arial" panose="020B0604020202020204" pitchFamily="34" charset="0"/>
              </a:rPr>
              <a:t>System Architecture &amp; Demo Readiness</a:t>
            </a:r>
            <a:endParaRPr lang="en-US" sz="3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94611" y="127920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33F70"/>
                </a:solidFill>
                <a:latin typeface="Arial" panose="020B0604020202020204" pitchFamily="34" charset="0"/>
                <a:ea typeface="Unbounded Bold" pitchFamily="34" charset="-122"/>
                <a:cs typeface="Arial" panose="020B0604020202020204" pitchFamily="34" charset="0"/>
              </a:rPr>
              <a:t>Architecture</a:t>
            </a: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11" y="1911668"/>
            <a:ext cx="6620589" cy="7937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92969" y="287905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Arial" panose="020B0604020202020204" pitchFamily="34" charset="0"/>
                <a:ea typeface="Unbounded Bold" pitchFamily="34" charset="-122"/>
                <a:cs typeface="Arial" panose="020B0604020202020204" pitchFamily="34" charset="0"/>
              </a:rPr>
              <a:t>Angular SPA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911668"/>
            <a:ext cx="6620589" cy="7937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13558" y="287905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Arial" panose="020B0604020202020204" pitchFamily="34" charset="0"/>
                <a:ea typeface="Unbounded Bold" pitchFamily="34" charset="-122"/>
                <a:cs typeface="Arial" panose="020B0604020202020204" pitchFamily="34" charset="0"/>
              </a:rPr>
              <a:t>Django API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611" y="3387566"/>
            <a:ext cx="6620589" cy="79379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92969" y="4354949"/>
            <a:ext cx="300347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Arial" panose="020B0604020202020204" pitchFamily="34" charset="0"/>
                <a:ea typeface="Unbounded Bold" pitchFamily="34" charset="-122"/>
                <a:cs typeface="Arial" panose="020B0604020202020204" pitchFamily="34" charset="0"/>
              </a:rPr>
              <a:t>PostgreSQL + Redis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3387566"/>
            <a:ext cx="6620589" cy="79379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513558" y="435494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Arial" panose="020B0604020202020204" pitchFamily="34" charset="0"/>
                <a:ea typeface="Unbounded Bold" pitchFamily="34" charset="-122"/>
                <a:cs typeface="Arial" panose="020B0604020202020204" pitchFamily="34" charset="0"/>
              </a:rPr>
              <a:t>MinIO (S3)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694611" y="5058728"/>
            <a:ext cx="13241179" cy="65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33F70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CV runs inside backend service</a:t>
            </a:r>
            <a:endParaRPr lang="en-US" sz="15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33F70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All services containerized via </a:t>
            </a:r>
            <a:r>
              <a:rPr lang="en-US" sz="1550" b="1" dirty="0">
                <a:solidFill>
                  <a:srgbClr val="333F70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Docker</a:t>
            </a:r>
            <a:endParaRPr lang="en-US" sz="1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694611" y="597515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33F70"/>
                </a:solidFill>
                <a:latin typeface="Arial" panose="020B0604020202020204" pitchFamily="34" charset="0"/>
                <a:ea typeface="Unbounded Bold" pitchFamily="34" charset="-122"/>
                <a:cs typeface="Arial" panose="020B0604020202020204" pitchFamily="34" charset="0"/>
              </a:rPr>
              <a:t>Deployment</a:t>
            </a: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8"/>
          <p:cNvSpPr/>
          <p:nvPr/>
        </p:nvSpPr>
        <p:spPr>
          <a:xfrm>
            <a:off x="694611" y="6607612"/>
            <a:ext cx="4297918" cy="1032272"/>
          </a:xfrm>
          <a:prstGeom prst="roundRect">
            <a:avLst>
              <a:gd name="adj" fmla="val 8075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900589" y="6813590"/>
            <a:ext cx="3885962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Arial" panose="020B0604020202020204" pitchFamily="34" charset="0"/>
                <a:ea typeface="Unbounded Bold" pitchFamily="34" charset="-122"/>
                <a:cs typeface="Arial" panose="020B0604020202020204" pitchFamily="34" charset="0"/>
              </a:rPr>
              <a:t>Docker Compose (multi-service)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5372100" y="6813590"/>
            <a:ext cx="307478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9843730" y="6813590"/>
            <a:ext cx="3885962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9</TotalTime>
  <Words>510</Words>
  <Application>Microsoft Office PowerPoint</Application>
  <PresentationFormat>Custom</PresentationFormat>
  <Paragraphs>107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Open Sans</vt:lpstr>
      <vt:lpstr>Tw Cen MT</vt:lpstr>
      <vt:lpstr>Franklin Gothic Medium</vt:lpstr>
      <vt:lpstr>Arial</vt:lpstr>
      <vt:lpstr>Droplet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Erbol Rashi</cp:lastModifiedBy>
  <cp:revision>2</cp:revision>
  <dcterms:created xsi:type="dcterms:W3CDTF">2026-04-21T18:42:04Z</dcterms:created>
  <dcterms:modified xsi:type="dcterms:W3CDTF">2026-04-21T18:51:36Z</dcterms:modified>
</cp:coreProperties>
</file>