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8" r:id="rId6"/>
    <p:sldId id="285" r:id="rId7"/>
    <p:sldId id="286" r:id="rId8"/>
    <p:sldId id="287" r:id="rId9"/>
    <p:sldId id="288" r:id="rId10"/>
    <p:sldId id="289" r:id="rId11"/>
    <p:sldId id="259" r:id="rId12"/>
    <p:sldId id="260" r:id="rId13"/>
    <p:sldId id="280" r:id="rId14"/>
    <p:sldId id="281" r:id="rId15"/>
    <p:sldId id="261" r:id="rId16"/>
    <p:sldId id="263" r:id="rId17"/>
    <p:sldId id="271" r:id="rId18"/>
    <p:sldId id="272" r:id="rId19"/>
    <p:sldId id="290" r:id="rId20"/>
    <p:sldId id="291" r:id="rId21"/>
    <p:sldId id="274" r:id="rId22"/>
    <p:sldId id="283" r:id="rId23"/>
    <p:sldId id="269" r:id="rId24"/>
    <p:sldId id="270" r:id="rId25"/>
    <p:sldId id="262" r:id="rId26"/>
    <p:sldId id="264" r:id="rId27"/>
    <p:sldId id="267" r:id="rId28"/>
    <p:sldId id="268" r:id="rId29"/>
    <p:sldId id="265" r:id="rId30"/>
    <p:sldId id="266" r:id="rId31"/>
    <p:sldId id="275" r:id="rId32"/>
    <p:sldId id="276" r:id="rId33"/>
    <p:sldId id="277" r:id="rId34"/>
    <p:sldId id="284" r:id="rId35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0CA327-2220-4CFA-9C8C-96F84E97F1CC}" v="1" dt="2024-12-24T05:25:15.2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bina Saparbayeva" userId="S::sa_saparbayeva@kbtu.kz::c925865b-094b-4217-942b-9c2c94f6e95f" providerId="AD" clId="Web-{BCB86F1F-9ADE-7A67-02A7-A5B11E24361B}"/>
    <pc:docChg chg="modSld">
      <pc:chgData name="Sabina Saparbayeva" userId="S::sa_saparbayeva@kbtu.kz::c925865b-094b-4217-942b-9c2c94f6e95f" providerId="AD" clId="Web-{BCB86F1F-9ADE-7A67-02A7-A5B11E24361B}" dt="2024-11-20T07:46:01.844" v="3" actId="1076"/>
      <pc:docMkLst>
        <pc:docMk/>
      </pc:docMkLst>
      <pc:sldChg chg="modSp">
        <pc:chgData name="Sabina Saparbayeva" userId="S::sa_saparbayeva@kbtu.kz::c925865b-094b-4217-942b-9c2c94f6e95f" providerId="AD" clId="Web-{BCB86F1F-9ADE-7A67-02A7-A5B11E24361B}" dt="2024-11-20T07:34:15.394" v="0" actId="1076"/>
        <pc:sldMkLst>
          <pc:docMk/>
          <pc:sldMk cId="1533604755" sldId="261"/>
        </pc:sldMkLst>
        <pc:picChg chg="mod">
          <ac:chgData name="Sabina Saparbayeva" userId="S::sa_saparbayeva@kbtu.kz::c925865b-094b-4217-942b-9c2c94f6e95f" providerId="AD" clId="Web-{BCB86F1F-9ADE-7A67-02A7-A5B11E24361B}" dt="2024-11-20T07:34:15.394" v="0" actId="1076"/>
          <ac:picMkLst>
            <pc:docMk/>
            <pc:sldMk cId="1533604755" sldId="261"/>
            <ac:picMk id="8" creationId="{4A53FC04-722B-13D4-119A-57D762A240BF}"/>
          </ac:picMkLst>
        </pc:picChg>
      </pc:sldChg>
      <pc:sldChg chg="modSp">
        <pc:chgData name="Sabina Saparbayeva" userId="S::sa_saparbayeva@kbtu.kz::c925865b-094b-4217-942b-9c2c94f6e95f" providerId="AD" clId="Web-{BCB86F1F-9ADE-7A67-02A7-A5B11E24361B}" dt="2024-11-20T07:46:01.844" v="3" actId="1076"/>
        <pc:sldMkLst>
          <pc:docMk/>
          <pc:sldMk cId="1715116535" sldId="272"/>
        </pc:sldMkLst>
        <pc:picChg chg="mod">
          <ac:chgData name="Sabina Saparbayeva" userId="S::sa_saparbayeva@kbtu.kz::c925865b-094b-4217-942b-9c2c94f6e95f" providerId="AD" clId="Web-{BCB86F1F-9ADE-7A67-02A7-A5B11E24361B}" dt="2024-11-20T07:46:01.844" v="3" actId="1076"/>
          <ac:picMkLst>
            <pc:docMk/>
            <pc:sldMk cId="1715116535" sldId="272"/>
            <ac:picMk id="9" creationId="{A7435585-C48C-F858-82EE-A9E2E5AE5C8B}"/>
          </ac:picMkLst>
        </pc:picChg>
      </pc:sldChg>
      <pc:sldChg chg="modSp">
        <pc:chgData name="Sabina Saparbayeva" userId="S::sa_saparbayeva@kbtu.kz::c925865b-094b-4217-942b-9c2c94f6e95f" providerId="AD" clId="Web-{BCB86F1F-9ADE-7A67-02A7-A5B11E24361B}" dt="2024-11-20T07:34:27.722" v="1" actId="1076"/>
        <pc:sldMkLst>
          <pc:docMk/>
          <pc:sldMk cId="2561934099" sldId="281"/>
        </pc:sldMkLst>
        <pc:picChg chg="mod">
          <ac:chgData name="Sabina Saparbayeva" userId="S::sa_saparbayeva@kbtu.kz::c925865b-094b-4217-942b-9c2c94f6e95f" providerId="AD" clId="Web-{BCB86F1F-9ADE-7A67-02A7-A5B11E24361B}" dt="2024-11-20T07:34:27.722" v="1" actId="1076"/>
          <ac:picMkLst>
            <pc:docMk/>
            <pc:sldMk cId="2561934099" sldId="281"/>
            <ac:picMk id="4" creationId="{B6456DD6-04EB-A5F5-7D4A-F62480B34766}"/>
          </ac:picMkLst>
        </pc:picChg>
      </pc:sldChg>
    </pc:docChg>
  </pc:docChgLst>
  <pc:docChgLst>
    <pc:chgData name="Beknur K. Altynbek" userId="S::b_altynbek@kbtu.kz::7e53ca68-3a73-4445-a095-7768e7f283ec" providerId="AD" clId="Web-{B266823C-22D9-4AC4-9FA1-5947C1B4E3FC}"/>
    <pc:docChg chg="modSld">
      <pc:chgData name="Beknur K. Altynbek" userId="S::b_altynbek@kbtu.kz::7e53ca68-3a73-4445-a095-7768e7f283ec" providerId="AD" clId="Web-{B266823C-22D9-4AC4-9FA1-5947C1B4E3FC}" dt="2024-12-06T10:53:11.044" v="7" actId="1076"/>
      <pc:docMkLst>
        <pc:docMk/>
      </pc:docMkLst>
      <pc:sldChg chg="modSp">
        <pc:chgData name="Beknur K. Altynbek" userId="S::b_altynbek@kbtu.kz::7e53ca68-3a73-4445-a095-7768e7f283ec" providerId="AD" clId="Web-{B266823C-22D9-4AC4-9FA1-5947C1B4E3FC}" dt="2024-12-06T10:53:11.044" v="7" actId="1076"/>
        <pc:sldMkLst>
          <pc:docMk/>
          <pc:sldMk cId="2253018790" sldId="263"/>
        </pc:sldMkLst>
        <pc:picChg chg="mod">
          <ac:chgData name="Beknur K. Altynbek" userId="S::b_altynbek@kbtu.kz::7e53ca68-3a73-4445-a095-7768e7f283ec" providerId="AD" clId="Web-{B266823C-22D9-4AC4-9FA1-5947C1B4E3FC}" dt="2024-12-06T10:53:11.044" v="7" actId="1076"/>
          <ac:picMkLst>
            <pc:docMk/>
            <pc:sldMk cId="2253018790" sldId="263"/>
            <ac:picMk id="3" creationId="{5A491062-AC8B-F1F9-6334-E4638F182AD8}"/>
          </ac:picMkLst>
        </pc:picChg>
      </pc:sldChg>
    </pc:docChg>
  </pc:docChgLst>
  <pc:docChgLst>
    <pc:chgData name="Zhaxylyk Torekhan" userId="S::z_torekhan@kbtu.kz::d6c08dbd-6adc-423a-aef3-3161ea92218e" providerId="AD" clId="Web-{C40CA327-2220-4CFA-9C8C-96F84E97F1CC}"/>
    <pc:docChg chg="modSld">
      <pc:chgData name="Zhaxylyk Torekhan" userId="S::z_torekhan@kbtu.kz::d6c08dbd-6adc-423a-aef3-3161ea92218e" providerId="AD" clId="Web-{C40CA327-2220-4CFA-9C8C-96F84E97F1CC}" dt="2024-12-24T05:25:15.235" v="0" actId="1076"/>
      <pc:docMkLst>
        <pc:docMk/>
      </pc:docMkLst>
      <pc:sldChg chg="modSp">
        <pc:chgData name="Zhaxylyk Torekhan" userId="S::z_torekhan@kbtu.kz::d6c08dbd-6adc-423a-aef3-3161ea92218e" providerId="AD" clId="Web-{C40CA327-2220-4CFA-9C8C-96F84E97F1CC}" dt="2024-12-24T05:25:15.235" v="0" actId="1076"/>
        <pc:sldMkLst>
          <pc:docMk/>
          <pc:sldMk cId="1863383184" sldId="262"/>
        </pc:sldMkLst>
        <pc:picChg chg="mod">
          <ac:chgData name="Zhaxylyk Torekhan" userId="S::z_torekhan@kbtu.kz::d6c08dbd-6adc-423a-aef3-3161ea92218e" providerId="AD" clId="Web-{C40CA327-2220-4CFA-9C8C-96F84E97F1CC}" dt="2024-12-24T05:25:15.235" v="0" actId="1076"/>
          <ac:picMkLst>
            <pc:docMk/>
            <pc:sldMk cId="1863383184" sldId="262"/>
            <ac:picMk id="4" creationId="{5E713F14-369F-7683-18DD-4FCBFBF8C1D2}"/>
          </ac:picMkLst>
        </pc:picChg>
      </pc:sldChg>
    </pc:docChg>
  </pc:docChgLst>
  <pc:docChgLst>
    <pc:chgData name="Yerassyl Kenzhegali" userId="S::y_kenzhegali@kbtu.kz::230aad19-e0cb-4c10-a387-24b292212eed" providerId="AD" clId="Web-{DEFC54B3-0113-0B62-732F-2E8A7341C3B5}"/>
    <pc:docChg chg="modSld">
      <pc:chgData name="Yerassyl Kenzhegali" userId="S::y_kenzhegali@kbtu.kz::230aad19-e0cb-4c10-a387-24b292212eed" providerId="AD" clId="Web-{DEFC54B3-0113-0B62-732F-2E8A7341C3B5}" dt="2024-12-24T06:32:35.681" v="1" actId="1076"/>
      <pc:docMkLst>
        <pc:docMk/>
      </pc:docMkLst>
      <pc:sldChg chg="modSp">
        <pc:chgData name="Yerassyl Kenzhegali" userId="S::y_kenzhegali@kbtu.kz::230aad19-e0cb-4c10-a387-24b292212eed" providerId="AD" clId="Web-{DEFC54B3-0113-0B62-732F-2E8A7341C3B5}" dt="2024-12-24T06:31:46.883" v="0" actId="1076"/>
        <pc:sldMkLst>
          <pc:docMk/>
          <pc:sldMk cId="2911080991" sldId="259"/>
        </pc:sldMkLst>
        <pc:graphicFrameChg chg="mod">
          <ac:chgData name="Yerassyl Kenzhegali" userId="S::y_kenzhegali@kbtu.kz::230aad19-e0cb-4c10-a387-24b292212eed" providerId="AD" clId="Web-{DEFC54B3-0113-0B62-732F-2E8A7341C3B5}" dt="2024-12-24T06:31:46.883" v="0" actId="1076"/>
          <ac:graphicFrameMkLst>
            <pc:docMk/>
            <pc:sldMk cId="2911080991" sldId="259"/>
            <ac:graphicFrameMk id="6" creationId="{9ECFC137-C406-1732-65CC-C905447F6BB4}"/>
          </ac:graphicFrameMkLst>
        </pc:graphicFrameChg>
      </pc:sldChg>
      <pc:sldChg chg="modSp">
        <pc:chgData name="Yerassyl Kenzhegali" userId="S::y_kenzhegali@kbtu.kz::230aad19-e0cb-4c10-a387-24b292212eed" providerId="AD" clId="Web-{DEFC54B3-0113-0B62-732F-2E8A7341C3B5}" dt="2024-12-24T06:32:35.681" v="1" actId="1076"/>
        <pc:sldMkLst>
          <pc:docMk/>
          <pc:sldMk cId="4108652446" sldId="260"/>
        </pc:sldMkLst>
        <pc:graphicFrameChg chg="mod">
          <ac:chgData name="Yerassyl Kenzhegali" userId="S::y_kenzhegali@kbtu.kz::230aad19-e0cb-4c10-a387-24b292212eed" providerId="AD" clId="Web-{DEFC54B3-0113-0B62-732F-2E8A7341C3B5}" dt="2024-12-24T06:32:35.681" v="1" actId="1076"/>
          <ac:graphicFrameMkLst>
            <pc:docMk/>
            <pc:sldMk cId="4108652446" sldId="260"/>
            <ac:graphicFrameMk id="33" creationId="{132C62E8-42B9-4C5E-8B93-25C1E2F3B72D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D4DB86-EEF7-4876-853A-0CC00F5C7F64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1DB739E-49F1-4F87-966C-182C537DA3D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>
              <a:latin typeface="Arial Nova"/>
            </a:rPr>
            <a:t>Precompiled:</a:t>
          </a:r>
        </a:p>
      </dgm:t>
    </dgm:pt>
    <dgm:pt modelId="{3064D864-CCA2-48AF-AE1D-7B7D1C65E4BE}" type="parTrans" cxnId="{FFED3E5A-8CF3-419A-9D7F-C4A2832BA9CB}">
      <dgm:prSet/>
      <dgm:spPr/>
      <dgm:t>
        <a:bodyPr/>
        <a:lstStyle/>
        <a:p>
          <a:endParaRPr lang="en-US"/>
        </a:p>
      </dgm:t>
    </dgm:pt>
    <dgm:pt modelId="{233BA520-0B79-44C8-92B5-A461879AA47C}" type="sibTrans" cxnId="{FFED3E5A-8CF3-419A-9D7F-C4A2832BA9CB}">
      <dgm:prSet/>
      <dgm:spPr/>
      <dgm:t>
        <a:bodyPr/>
        <a:lstStyle/>
        <a:p>
          <a:endParaRPr lang="en-US"/>
        </a:p>
      </dgm:t>
    </dgm:pt>
    <dgm:pt modelId="{2733651D-6B15-40C2-92AB-81C97F84B9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rial Nova"/>
            </a:rPr>
            <a:t>Once a stored procedure is created, it is precompiled and stored in the database.</a:t>
          </a:r>
          <a:br>
            <a:rPr lang="en-US">
              <a:latin typeface="Arial Nova"/>
            </a:rPr>
          </a:br>
          <a:r>
            <a:rPr lang="en-US">
              <a:latin typeface="Arial Nova"/>
            </a:rPr>
            <a:t>The DBMS doesn't need to parse and compile the SQL each time it's executed.</a:t>
          </a:r>
        </a:p>
      </dgm:t>
    </dgm:pt>
    <dgm:pt modelId="{A53E6DA4-EA7F-4CB3-91DE-AF666164E9FB}" type="parTrans" cxnId="{7751A260-1AB6-4E2B-B579-8DA5F5A0CC21}">
      <dgm:prSet/>
      <dgm:spPr/>
      <dgm:t>
        <a:bodyPr/>
        <a:lstStyle/>
        <a:p>
          <a:endParaRPr lang="en-US"/>
        </a:p>
      </dgm:t>
    </dgm:pt>
    <dgm:pt modelId="{04F81ECB-8A13-4B98-9E3C-C53DFE4415C5}" type="sibTrans" cxnId="{7751A260-1AB6-4E2B-B579-8DA5F5A0CC21}">
      <dgm:prSet/>
      <dgm:spPr/>
      <dgm:t>
        <a:bodyPr/>
        <a:lstStyle/>
        <a:p>
          <a:endParaRPr lang="en-US"/>
        </a:p>
      </dgm:t>
    </dgm:pt>
    <dgm:pt modelId="{B77CB7AE-2A04-47EE-85BE-1D6D097BFC8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>
              <a:latin typeface="Arial Nova"/>
            </a:rPr>
            <a:t>Encapsulation:</a:t>
          </a:r>
        </a:p>
      </dgm:t>
    </dgm:pt>
    <dgm:pt modelId="{13298BA0-227A-4071-91AF-7145ECFD4437}" type="parTrans" cxnId="{375957EE-FC2B-46C6-9690-51946ED9815A}">
      <dgm:prSet/>
      <dgm:spPr/>
      <dgm:t>
        <a:bodyPr/>
        <a:lstStyle/>
        <a:p>
          <a:endParaRPr lang="en-US"/>
        </a:p>
      </dgm:t>
    </dgm:pt>
    <dgm:pt modelId="{F05CB2E7-A253-442D-BE1E-DB2243B99071}" type="sibTrans" cxnId="{375957EE-FC2B-46C6-9690-51946ED9815A}">
      <dgm:prSet/>
      <dgm:spPr/>
      <dgm:t>
        <a:bodyPr/>
        <a:lstStyle/>
        <a:p>
          <a:endParaRPr lang="en-US"/>
        </a:p>
      </dgm:t>
    </dgm:pt>
    <dgm:pt modelId="{C21A82B5-EF72-467B-8836-971358BAA7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rial Nova"/>
            </a:rPr>
            <a:t>Stored procedures allow you to group related SQL statements into a single logical unit.</a:t>
          </a:r>
        </a:p>
      </dgm:t>
    </dgm:pt>
    <dgm:pt modelId="{75C3EB33-7938-45D1-959F-AA9914B2FF73}" type="parTrans" cxnId="{6B8F3EB7-02BC-4975-8356-5CD22EB99597}">
      <dgm:prSet/>
      <dgm:spPr/>
      <dgm:t>
        <a:bodyPr/>
        <a:lstStyle/>
        <a:p>
          <a:endParaRPr lang="en-US"/>
        </a:p>
      </dgm:t>
    </dgm:pt>
    <dgm:pt modelId="{EC1D0055-8EB2-416D-8065-11949B2F7A2D}" type="sibTrans" cxnId="{6B8F3EB7-02BC-4975-8356-5CD22EB99597}">
      <dgm:prSet/>
      <dgm:spPr/>
      <dgm:t>
        <a:bodyPr/>
        <a:lstStyle/>
        <a:p>
          <a:endParaRPr lang="en-US"/>
        </a:p>
      </dgm:t>
    </dgm:pt>
    <dgm:pt modelId="{511BDE54-B0BE-4328-A8DD-B9E8F2A11028}" type="pres">
      <dgm:prSet presAssocID="{77D4DB86-EEF7-4876-853A-0CC00F5C7F64}" presName="root" presStyleCnt="0">
        <dgm:presLayoutVars>
          <dgm:dir/>
          <dgm:resizeHandles val="exact"/>
        </dgm:presLayoutVars>
      </dgm:prSet>
      <dgm:spPr/>
    </dgm:pt>
    <dgm:pt modelId="{AB3825B6-1842-43AF-8B75-19549CE924AC}" type="pres">
      <dgm:prSet presAssocID="{61DB739E-49F1-4F87-966C-182C537DA3D4}" presName="compNode" presStyleCnt="0"/>
      <dgm:spPr/>
    </dgm:pt>
    <dgm:pt modelId="{CE08B881-9096-47DE-95B7-502B5A8E8B34}" type="pres">
      <dgm:prSet presAssocID="{61DB739E-49F1-4F87-966C-182C537DA3D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B105990-425D-4CED-BBF5-3F635B0110C4}" type="pres">
      <dgm:prSet presAssocID="{61DB739E-49F1-4F87-966C-182C537DA3D4}" presName="iconSpace" presStyleCnt="0"/>
      <dgm:spPr/>
    </dgm:pt>
    <dgm:pt modelId="{0BD7EDFE-FC98-4026-8F2D-42F3FB5774C2}" type="pres">
      <dgm:prSet presAssocID="{61DB739E-49F1-4F87-966C-182C537DA3D4}" presName="parTx" presStyleLbl="revTx" presStyleIdx="0" presStyleCnt="4">
        <dgm:presLayoutVars>
          <dgm:chMax val="0"/>
          <dgm:chPref val="0"/>
        </dgm:presLayoutVars>
      </dgm:prSet>
      <dgm:spPr/>
    </dgm:pt>
    <dgm:pt modelId="{085BFDBD-FF03-4076-BF59-7074DD6D6A49}" type="pres">
      <dgm:prSet presAssocID="{61DB739E-49F1-4F87-966C-182C537DA3D4}" presName="txSpace" presStyleCnt="0"/>
      <dgm:spPr/>
    </dgm:pt>
    <dgm:pt modelId="{E29BD683-D266-4A30-934A-94EE003CAB71}" type="pres">
      <dgm:prSet presAssocID="{61DB739E-49F1-4F87-966C-182C537DA3D4}" presName="desTx" presStyleLbl="revTx" presStyleIdx="1" presStyleCnt="4">
        <dgm:presLayoutVars/>
      </dgm:prSet>
      <dgm:spPr/>
    </dgm:pt>
    <dgm:pt modelId="{6B8EB3F5-921E-4CB7-8D8D-48AA4A310C0D}" type="pres">
      <dgm:prSet presAssocID="{233BA520-0B79-44C8-92B5-A461879AA47C}" presName="sibTrans" presStyleCnt="0"/>
      <dgm:spPr/>
    </dgm:pt>
    <dgm:pt modelId="{06901E4B-B267-425C-BD9B-12E12B5E1C97}" type="pres">
      <dgm:prSet presAssocID="{B77CB7AE-2A04-47EE-85BE-1D6D097BFC84}" presName="compNode" presStyleCnt="0"/>
      <dgm:spPr/>
    </dgm:pt>
    <dgm:pt modelId="{8FC1467B-0507-473F-9461-DDDB401DE851}" type="pres">
      <dgm:prSet presAssocID="{B77CB7AE-2A04-47EE-85BE-1D6D097BFC8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4EBB0712-6E46-4E61-9827-29D0CDD64355}" type="pres">
      <dgm:prSet presAssocID="{B77CB7AE-2A04-47EE-85BE-1D6D097BFC84}" presName="iconSpace" presStyleCnt="0"/>
      <dgm:spPr/>
    </dgm:pt>
    <dgm:pt modelId="{B00392D6-A5CA-4CBF-B5F0-4ADA31DB2671}" type="pres">
      <dgm:prSet presAssocID="{B77CB7AE-2A04-47EE-85BE-1D6D097BFC84}" presName="parTx" presStyleLbl="revTx" presStyleIdx="2" presStyleCnt="4">
        <dgm:presLayoutVars>
          <dgm:chMax val="0"/>
          <dgm:chPref val="0"/>
        </dgm:presLayoutVars>
      </dgm:prSet>
      <dgm:spPr/>
    </dgm:pt>
    <dgm:pt modelId="{74E5B3B6-E581-427E-BC62-1D29C778B147}" type="pres">
      <dgm:prSet presAssocID="{B77CB7AE-2A04-47EE-85BE-1D6D097BFC84}" presName="txSpace" presStyleCnt="0"/>
      <dgm:spPr/>
    </dgm:pt>
    <dgm:pt modelId="{4D29B387-FA1A-47CF-9BC8-6DBAA5B087B6}" type="pres">
      <dgm:prSet presAssocID="{B77CB7AE-2A04-47EE-85BE-1D6D097BFC84}" presName="desTx" presStyleLbl="revTx" presStyleIdx="3" presStyleCnt="4">
        <dgm:presLayoutVars/>
      </dgm:prSet>
      <dgm:spPr/>
    </dgm:pt>
  </dgm:ptLst>
  <dgm:cxnLst>
    <dgm:cxn modelId="{631C7903-EF64-4043-B7AE-AF4CB509D293}" type="presOf" srcId="{B77CB7AE-2A04-47EE-85BE-1D6D097BFC84}" destId="{B00392D6-A5CA-4CBF-B5F0-4ADA31DB2671}" srcOrd="0" destOrd="0" presId="urn:microsoft.com/office/officeart/2018/5/layout/CenteredIconLabelDescriptionList"/>
    <dgm:cxn modelId="{7751A260-1AB6-4E2B-B579-8DA5F5A0CC21}" srcId="{61DB739E-49F1-4F87-966C-182C537DA3D4}" destId="{2733651D-6B15-40C2-92AB-81C97F84B9DC}" srcOrd="0" destOrd="0" parTransId="{A53E6DA4-EA7F-4CB3-91DE-AF666164E9FB}" sibTransId="{04F81ECB-8A13-4B98-9E3C-C53DFE4415C5}"/>
    <dgm:cxn modelId="{FFED3E5A-8CF3-419A-9D7F-C4A2832BA9CB}" srcId="{77D4DB86-EEF7-4876-853A-0CC00F5C7F64}" destId="{61DB739E-49F1-4F87-966C-182C537DA3D4}" srcOrd="0" destOrd="0" parTransId="{3064D864-CCA2-48AF-AE1D-7B7D1C65E4BE}" sibTransId="{233BA520-0B79-44C8-92B5-A461879AA47C}"/>
    <dgm:cxn modelId="{48803BA1-085F-4267-BFBE-EA2782E78DEE}" type="presOf" srcId="{C21A82B5-EF72-467B-8836-971358BAA763}" destId="{4D29B387-FA1A-47CF-9BC8-6DBAA5B087B6}" srcOrd="0" destOrd="0" presId="urn:microsoft.com/office/officeart/2018/5/layout/CenteredIconLabelDescriptionList"/>
    <dgm:cxn modelId="{6B8F3EB7-02BC-4975-8356-5CD22EB99597}" srcId="{B77CB7AE-2A04-47EE-85BE-1D6D097BFC84}" destId="{C21A82B5-EF72-467B-8836-971358BAA763}" srcOrd="0" destOrd="0" parTransId="{75C3EB33-7938-45D1-959F-AA9914B2FF73}" sibTransId="{EC1D0055-8EB2-416D-8065-11949B2F7A2D}"/>
    <dgm:cxn modelId="{3B3776C5-3DB2-478D-9216-BA9EF7AAE899}" type="presOf" srcId="{61DB739E-49F1-4F87-966C-182C537DA3D4}" destId="{0BD7EDFE-FC98-4026-8F2D-42F3FB5774C2}" srcOrd="0" destOrd="0" presId="urn:microsoft.com/office/officeart/2018/5/layout/CenteredIconLabelDescriptionList"/>
    <dgm:cxn modelId="{B03B93E0-56D3-444C-B0A4-EA924474BEE6}" type="presOf" srcId="{77D4DB86-EEF7-4876-853A-0CC00F5C7F64}" destId="{511BDE54-B0BE-4328-A8DD-B9E8F2A11028}" srcOrd="0" destOrd="0" presId="urn:microsoft.com/office/officeart/2018/5/layout/CenteredIconLabelDescriptionList"/>
    <dgm:cxn modelId="{375957EE-FC2B-46C6-9690-51946ED9815A}" srcId="{77D4DB86-EEF7-4876-853A-0CC00F5C7F64}" destId="{B77CB7AE-2A04-47EE-85BE-1D6D097BFC84}" srcOrd="1" destOrd="0" parTransId="{13298BA0-227A-4071-91AF-7145ECFD4437}" sibTransId="{F05CB2E7-A253-442D-BE1E-DB2243B99071}"/>
    <dgm:cxn modelId="{7C4761F5-040F-400E-B0DB-87CAC4CF7F3B}" type="presOf" srcId="{2733651D-6B15-40C2-92AB-81C97F84B9DC}" destId="{E29BD683-D266-4A30-934A-94EE003CAB71}" srcOrd="0" destOrd="0" presId="urn:microsoft.com/office/officeart/2018/5/layout/CenteredIconLabelDescriptionList"/>
    <dgm:cxn modelId="{757D147E-7ADA-4B09-8ACA-B611C87755C8}" type="presParOf" srcId="{511BDE54-B0BE-4328-A8DD-B9E8F2A11028}" destId="{AB3825B6-1842-43AF-8B75-19549CE924AC}" srcOrd="0" destOrd="0" presId="urn:microsoft.com/office/officeart/2018/5/layout/CenteredIconLabelDescriptionList"/>
    <dgm:cxn modelId="{9A0762D0-3776-4B25-ACBF-3438403F423C}" type="presParOf" srcId="{AB3825B6-1842-43AF-8B75-19549CE924AC}" destId="{CE08B881-9096-47DE-95B7-502B5A8E8B34}" srcOrd="0" destOrd="0" presId="urn:microsoft.com/office/officeart/2018/5/layout/CenteredIconLabelDescriptionList"/>
    <dgm:cxn modelId="{44E1ED20-5FF7-454E-A910-364C0C3C5978}" type="presParOf" srcId="{AB3825B6-1842-43AF-8B75-19549CE924AC}" destId="{9B105990-425D-4CED-BBF5-3F635B0110C4}" srcOrd="1" destOrd="0" presId="urn:microsoft.com/office/officeart/2018/5/layout/CenteredIconLabelDescriptionList"/>
    <dgm:cxn modelId="{4535F52C-BD15-47D8-92AE-32EC590543CE}" type="presParOf" srcId="{AB3825B6-1842-43AF-8B75-19549CE924AC}" destId="{0BD7EDFE-FC98-4026-8F2D-42F3FB5774C2}" srcOrd="2" destOrd="0" presId="urn:microsoft.com/office/officeart/2018/5/layout/CenteredIconLabelDescriptionList"/>
    <dgm:cxn modelId="{C1FCBB5B-77CB-4F64-A2EB-A5D22D31FC4D}" type="presParOf" srcId="{AB3825B6-1842-43AF-8B75-19549CE924AC}" destId="{085BFDBD-FF03-4076-BF59-7074DD6D6A49}" srcOrd="3" destOrd="0" presId="urn:microsoft.com/office/officeart/2018/5/layout/CenteredIconLabelDescriptionList"/>
    <dgm:cxn modelId="{FB85E77B-3035-469E-A3F7-9CA83DA6FC33}" type="presParOf" srcId="{AB3825B6-1842-43AF-8B75-19549CE924AC}" destId="{E29BD683-D266-4A30-934A-94EE003CAB71}" srcOrd="4" destOrd="0" presId="urn:microsoft.com/office/officeart/2018/5/layout/CenteredIconLabelDescriptionList"/>
    <dgm:cxn modelId="{81AFA38D-85EF-4EF8-8A99-DF23BE2ADD7F}" type="presParOf" srcId="{511BDE54-B0BE-4328-A8DD-B9E8F2A11028}" destId="{6B8EB3F5-921E-4CB7-8D8D-48AA4A310C0D}" srcOrd="1" destOrd="0" presId="urn:microsoft.com/office/officeart/2018/5/layout/CenteredIconLabelDescriptionList"/>
    <dgm:cxn modelId="{1993E472-F57D-46BE-A841-AE396D0A0DF3}" type="presParOf" srcId="{511BDE54-B0BE-4328-A8DD-B9E8F2A11028}" destId="{06901E4B-B267-425C-BD9B-12E12B5E1C97}" srcOrd="2" destOrd="0" presId="urn:microsoft.com/office/officeart/2018/5/layout/CenteredIconLabelDescriptionList"/>
    <dgm:cxn modelId="{24B6D0EB-AFD3-4737-AFD9-C400C8A91E96}" type="presParOf" srcId="{06901E4B-B267-425C-BD9B-12E12B5E1C97}" destId="{8FC1467B-0507-473F-9461-DDDB401DE851}" srcOrd="0" destOrd="0" presId="urn:microsoft.com/office/officeart/2018/5/layout/CenteredIconLabelDescriptionList"/>
    <dgm:cxn modelId="{4D93E07C-7855-4EEC-9825-6EBB907A74D0}" type="presParOf" srcId="{06901E4B-B267-425C-BD9B-12E12B5E1C97}" destId="{4EBB0712-6E46-4E61-9827-29D0CDD64355}" srcOrd="1" destOrd="0" presId="urn:microsoft.com/office/officeart/2018/5/layout/CenteredIconLabelDescriptionList"/>
    <dgm:cxn modelId="{018B1429-7B3D-4FF2-B27C-E28108A2C35B}" type="presParOf" srcId="{06901E4B-B267-425C-BD9B-12E12B5E1C97}" destId="{B00392D6-A5CA-4CBF-B5F0-4ADA31DB2671}" srcOrd="2" destOrd="0" presId="urn:microsoft.com/office/officeart/2018/5/layout/CenteredIconLabelDescriptionList"/>
    <dgm:cxn modelId="{5D76D03B-110C-4EEA-8317-3784854DFA23}" type="presParOf" srcId="{06901E4B-B267-425C-BD9B-12E12B5E1C97}" destId="{74E5B3B6-E581-427E-BC62-1D29C778B147}" srcOrd="3" destOrd="0" presId="urn:microsoft.com/office/officeart/2018/5/layout/CenteredIconLabelDescriptionList"/>
    <dgm:cxn modelId="{860F0DEA-6CA2-4555-AFE4-8A96BE2DB5C1}" type="presParOf" srcId="{06901E4B-B267-425C-BD9B-12E12B5E1C97}" destId="{4D29B387-FA1A-47CF-9BC8-6DBAA5B087B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44190C-7809-4382-9F82-D250D87AA36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55FBB06-10F0-486E-A8B7-6FF0982F836A}">
      <dgm:prSet/>
      <dgm:spPr/>
      <dgm:t>
        <a:bodyPr/>
        <a:lstStyle/>
        <a:p>
          <a:r>
            <a:rPr lang="en-US">
              <a:latin typeface="Arial Nova"/>
            </a:rPr>
            <a:t>Parameterization:</a:t>
          </a:r>
        </a:p>
      </dgm:t>
    </dgm:pt>
    <dgm:pt modelId="{6AB7061A-9003-440B-A529-8B3A05E3F7A2}" type="parTrans" cxnId="{46878E87-BB41-47FD-AB95-595E4DEEFDC9}">
      <dgm:prSet/>
      <dgm:spPr/>
      <dgm:t>
        <a:bodyPr/>
        <a:lstStyle/>
        <a:p>
          <a:endParaRPr lang="en-US"/>
        </a:p>
      </dgm:t>
    </dgm:pt>
    <dgm:pt modelId="{D2046D5A-AB6C-4813-927E-E1D56900F822}" type="sibTrans" cxnId="{46878E87-BB41-47FD-AB95-595E4DEEFDC9}">
      <dgm:prSet/>
      <dgm:spPr/>
      <dgm:t>
        <a:bodyPr/>
        <a:lstStyle/>
        <a:p>
          <a:endParaRPr lang="en-US"/>
        </a:p>
      </dgm:t>
    </dgm:pt>
    <dgm:pt modelId="{B031E7ED-6266-490E-8D7E-AEC685CA4642}">
      <dgm:prSet/>
      <dgm:spPr/>
      <dgm:t>
        <a:bodyPr/>
        <a:lstStyle/>
        <a:p>
          <a:r>
            <a:rPr lang="en-US">
              <a:latin typeface="Arial Nova"/>
            </a:rPr>
            <a:t>Stored procedures often accept input parameters, and they may also return output parameters or result sets.</a:t>
          </a:r>
        </a:p>
      </dgm:t>
    </dgm:pt>
    <dgm:pt modelId="{B34C95F9-7023-4F6A-A671-C37AF420D986}" type="parTrans" cxnId="{76308310-7772-448C-8B46-97916BD8BC99}">
      <dgm:prSet/>
      <dgm:spPr/>
      <dgm:t>
        <a:bodyPr/>
        <a:lstStyle/>
        <a:p>
          <a:endParaRPr lang="en-US"/>
        </a:p>
      </dgm:t>
    </dgm:pt>
    <dgm:pt modelId="{8DA48FEA-15B2-46D2-88AB-9C037F1F0EBE}" type="sibTrans" cxnId="{76308310-7772-448C-8B46-97916BD8BC99}">
      <dgm:prSet/>
      <dgm:spPr/>
      <dgm:t>
        <a:bodyPr/>
        <a:lstStyle/>
        <a:p>
          <a:endParaRPr lang="en-US"/>
        </a:p>
      </dgm:t>
    </dgm:pt>
    <dgm:pt modelId="{CCA330E9-E3C7-4354-8944-85001CC1EE99}">
      <dgm:prSet/>
      <dgm:spPr/>
      <dgm:t>
        <a:bodyPr/>
        <a:lstStyle/>
        <a:p>
          <a:r>
            <a:rPr lang="en-US">
              <a:latin typeface="Arial Nova"/>
            </a:rPr>
            <a:t>Security:</a:t>
          </a:r>
        </a:p>
      </dgm:t>
    </dgm:pt>
    <dgm:pt modelId="{D12C10AE-A581-4E80-97E6-72E0855F3D27}" type="parTrans" cxnId="{C8E83D26-6A1C-4B0E-A2D3-B0177666AEF6}">
      <dgm:prSet/>
      <dgm:spPr/>
      <dgm:t>
        <a:bodyPr/>
        <a:lstStyle/>
        <a:p>
          <a:endParaRPr lang="en-US"/>
        </a:p>
      </dgm:t>
    </dgm:pt>
    <dgm:pt modelId="{95DCBF97-C2B5-42BB-BDC6-2BE69F23FD2E}" type="sibTrans" cxnId="{C8E83D26-6A1C-4B0E-A2D3-B0177666AEF6}">
      <dgm:prSet/>
      <dgm:spPr/>
      <dgm:t>
        <a:bodyPr/>
        <a:lstStyle/>
        <a:p>
          <a:endParaRPr lang="en-US"/>
        </a:p>
      </dgm:t>
    </dgm:pt>
    <dgm:pt modelId="{D8BC0706-B83A-43C5-A542-776F107BDD8C}">
      <dgm:prSet/>
      <dgm:spPr/>
      <dgm:t>
        <a:bodyPr/>
        <a:lstStyle/>
        <a:p>
          <a:r>
            <a:rPr lang="en-US">
              <a:latin typeface="Arial Nova"/>
            </a:rPr>
            <a:t>You can control access to sensitive data by providing users with permissions</a:t>
          </a:r>
        </a:p>
      </dgm:t>
    </dgm:pt>
    <dgm:pt modelId="{20E55886-AFBD-4EE0-909C-5D33EC3E9905}" type="parTrans" cxnId="{1C564EE3-C866-4392-8D5A-0A272BBFE13B}">
      <dgm:prSet/>
      <dgm:spPr/>
      <dgm:t>
        <a:bodyPr/>
        <a:lstStyle/>
        <a:p>
          <a:endParaRPr lang="en-US"/>
        </a:p>
      </dgm:t>
    </dgm:pt>
    <dgm:pt modelId="{8309197C-7534-4F34-8EEF-0B4B53003F1B}" type="sibTrans" cxnId="{1C564EE3-C866-4392-8D5A-0A272BBFE13B}">
      <dgm:prSet/>
      <dgm:spPr/>
      <dgm:t>
        <a:bodyPr/>
        <a:lstStyle/>
        <a:p>
          <a:endParaRPr lang="en-US"/>
        </a:p>
      </dgm:t>
    </dgm:pt>
    <dgm:pt modelId="{057C0853-B645-4384-9F94-E26EE75141F8}">
      <dgm:prSet/>
      <dgm:spPr/>
      <dgm:t>
        <a:bodyPr/>
        <a:lstStyle/>
        <a:p>
          <a:r>
            <a:rPr lang="en-US">
              <a:latin typeface="Arial Nova"/>
            </a:rPr>
            <a:t>Error Handling</a:t>
          </a:r>
        </a:p>
      </dgm:t>
    </dgm:pt>
    <dgm:pt modelId="{953232F6-E570-47DA-A095-6B647AFF2258}" type="parTrans" cxnId="{B9BE57FB-8DC2-406B-BB53-7031EBBB652F}">
      <dgm:prSet/>
      <dgm:spPr/>
      <dgm:t>
        <a:bodyPr/>
        <a:lstStyle/>
        <a:p>
          <a:endParaRPr lang="en-US"/>
        </a:p>
      </dgm:t>
    </dgm:pt>
    <dgm:pt modelId="{7DCACFF3-E9C3-46DB-9AE3-6A70D666BB3D}" type="sibTrans" cxnId="{B9BE57FB-8DC2-406B-BB53-7031EBBB652F}">
      <dgm:prSet/>
      <dgm:spPr/>
      <dgm:t>
        <a:bodyPr/>
        <a:lstStyle/>
        <a:p>
          <a:endParaRPr lang="en-US"/>
        </a:p>
      </dgm:t>
    </dgm:pt>
    <dgm:pt modelId="{92715F63-4D79-4F90-8702-2C1B9A744CFA}" type="pres">
      <dgm:prSet presAssocID="{3344190C-7809-4382-9F82-D250D87AA361}" presName="linear" presStyleCnt="0">
        <dgm:presLayoutVars>
          <dgm:animLvl val="lvl"/>
          <dgm:resizeHandles val="exact"/>
        </dgm:presLayoutVars>
      </dgm:prSet>
      <dgm:spPr/>
    </dgm:pt>
    <dgm:pt modelId="{B00ADF7E-72AA-4CB6-B3AE-D9AEBC3BEE01}" type="pres">
      <dgm:prSet presAssocID="{455FBB06-10F0-486E-A8B7-6FF0982F836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CCBEC4A-851F-4D62-8F90-C9212D51917E}" type="pres">
      <dgm:prSet presAssocID="{455FBB06-10F0-486E-A8B7-6FF0982F836A}" presName="childText" presStyleLbl="revTx" presStyleIdx="0" presStyleCnt="2">
        <dgm:presLayoutVars>
          <dgm:bulletEnabled val="1"/>
        </dgm:presLayoutVars>
      </dgm:prSet>
      <dgm:spPr/>
    </dgm:pt>
    <dgm:pt modelId="{47A09F7D-30F9-4B1B-A0F6-B42632BE8D1D}" type="pres">
      <dgm:prSet presAssocID="{CCA330E9-E3C7-4354-8944-85001CC1EE9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255335F-ED71-4A29-B23B-2249313A8CDF}" type="pres">
      <dgm:prSet presAssocID="{CCA330E9-E3C7-4354-8944-85001CC1EE99}" presName="childText" presStyleLbl="revTx" presStyleIdx="1" presStyleCnt="2">
        <dgm:presLayoutVars>
          <dgm:bulletEnabled val="1"/>
        </dgm:presLayoutVars>
      </dgm:prSet>
      <dgm:spPr/>
    </dgm:pt>
    <dgm:pt modelId="{6F91516A-F1D2-4091-BB39-2BE5199B2FA8}" type="pres">
      <dgm:prSet presAssocID="{057C0853-B645-4384-9F94-E26EE75141F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6308310-7772-448C-8B46-97916BD8BC99}" srcId="{455FBB06-10F0-486E-A8B7-6FF0982F836A}" destId="{B031E7ED-6266-490E-8D7E-AEC685CA4642}" srcOrd="0" destOrd="0" parTransId="{B34C95F9-7023-4F6A-A671-C37AF420D986}" sibTransId="{8DA48FEA-15B2-46D2-88AB-9C037F1F0EBE}"/>
    <dgm:cxn modelId="{768C9220-AF3B-45B6-AD4D-B9F1EC9FB318}" type="presOf" srcId="{057C0853-B645-4384-9F94-E26EE75141F8}" destId="{6F91516A-F1D2-4091-BB39-2BE5199B2FA8}" srcOrd="0" destOrd="0" presId="urn:microsoft.com/office/officeart/2005/8/layout/vList2"/>
    <dgm:cxn modelId="{C8E83D26-6A1C-4B0E-A2D3-B0177666AEF6}" srcId="{3344190C-7809-4382-9F82-D250D87AA361}" destId="{CCA330E9-E3C7-4354-8944-85001CC1EE99}" srcOrd="1" destOrd="0" parTransId="{D12C10AE-A581-4E80-97E6-72E0855F3D27}" sibTransId="{95DCBF97-C2B5-42BB-BDC6-2BE69F23FD2E}"/>
    <dgm:cxn modelId="{C1254864-16BA-4DE5-A99C-B69A34485F16}" type="presOf" srcId="{D8BC0706-B83A-43C5-A542-776F107BDD8C}" destId="{5255335F-ED71-4A29-B23B-2249313A8CDF}" srcOrd="0" destOrd="0" presId="urn:microsoft.com/office/officeart/2005/8/layout/vList2"/>
    <dgm:cxn modelId="{B0A9AE46-9B95-430A-B9D2-55F0A0088F9A}" type="presOf" srcId="{B031E7ED-6266-490E-8D7E-AEC685CA4642}" destId="{1CCBEC4A-851F-4D62-8F90-C9212D51917E}" srcOrd="0" destOrd="0" presId="urn:microsoft.com/office/officeart/2005/8/layout/vList2"/>
    <dgm:cxn modelId="{5E16F186-CB68-4F48-8523-489EFDB630FB}" type="presOf" srcId="{455FBB06-10F0-486E-A8B7-6FF0982F836A}" destId="{B00ADF7E-72AA-4CB6-B3AE-D9AEBC3BEE01}" srcOrd="0" destOrd="0" presId="urn:microsoft.com/office/officeart/2005/8/layout/vList2"/>
    <dgm:cxn modelId="{46878E87-BB41-47FD-AB95-595E4DEEFDC9}" srcId="{3344190C-7809-4382-9F82-D250D87AA361}" destId="{455FBB06-10F0-486E-A8B7-6FF0982F836A}" srcOrd="0" destOrd="0" parTransId="{6AB7061A-9003-440B-A529-8B3A05E3F7A2}" sibTransId="{D2046D5A-AB6C-4813-927E-E1D56900F822}"/>
    <dgm:cxn modelId="{FDF0E3BC-F8F4-4867-98C9-E4BB0868A2DB}" type="presOf" srcId="{3344190C-7809-4382-9F82-D250D87AA361}" destId="{92715F63-4D79-4F90-8702-2C1B9A744CFA}" srcOrd="0" destOrd="0" presId="urn:microsoft.com/office/officeart/2005/8/layout/vList2"/>
    <dgm:cxn modelId="{1C564EE3-C866-4392-8D5A-0A272BBFE13B}" srcId="{CCA330E9-E3C7-4354-8944-85001CC1EE99}" destId="{D8BC0706-B83A-43C5-A542-776F107BDD8C}" srcOrd="0" destOrd="0" parTransId="{20E55886-AFBD-4EE0-909C-5D33EC3E9905}" sibTransId="{8309197C-7534-4F34-8EEF-0B4B53003F1B}"/>
    <dgm:cxn modelId="{290808ED-DAE0-4895-822C-874CCC67DCC9}" type="presOf" srcId="{CCA330E9-E3C7-4354-8944-85001CC1EE99}" destId="{47A09F7D-30F9-4B1B-A0F6-B42632BE8D1D}" srcOrd="0" destOrd="0" presId="urn:microsoft.com/office/officeart/2005/8/layout/vList2"/>
    <dgm:cxn modelId="{B9BE57FB-8DC2-406B-BB53-7031EBBB652F}" srcId="{3344190C-7809-4382-9F82-D250D87AA361}" destId="{057C0853-B645-4384-9F94-E26EE75141F8}" srcOrd="2" destOrd="0" parTransId="{953232F6-E570-47DA-A095-6B647AFF2258}" sibTransId="{7DCACFF3-E9C3-46DB-9AE3-6A70D666BB3D}"/>
    <dgm:cxn modelId="{06D53F4C-0B89-490F-9056-964513E6454A}" type="presParOf" srcId="{92715F63-4D79-4F90-8702-2C1B9A744CFA}" destId="{B00ADF7E-72AA-4CB6-B3AE-D9AEBC3BEE01}" srcOrd="0" destOrd="0" presId="urn:microsoft.com/office/officeart/2005/8/layout/vList2"/>
    <dgm:cxn modelId="{AC07522D-BDAF-4D19-88DB-D42D0D2675AB}" type="presParOf" srcId="{92715F63-4D79-4F90-8702-2C1B9A744CFA}" destId="{1CCBEC4A-851F-4D62-8F90-C9212D51917E}" srcOrd="1" destOrd="0" presId="urn:microsoft.com/office/officeart/2005/8/layout/vList2"/>
    <dgm:cxn modelId="{EC94111A-12C1-4BC7-9A3E-DE209B338A4C}" type="presParOf" srcId="{92715F63-4D79-4F90-8702-2C1B9A744CFA}" destId="{47A09F7D-30F9-4B1B-A0F6-B42632BE8D1D}" srcOrd="2" destOrd="0" presId="urn:microsoft.com/office/officeart/2005/8/layout/vList2"/>
    <dgm:cxn modelId="{7A4193CC-258F-46F9-B5A4-1D28A57FB056}" type="presParOf" srcId="{92715F63-4D79-4F90-8702-2C1B9A744CFA}" destId="{5255335F-ED71-4A29-B23B-2249313A8CDF}" srcOrd="3" destOrd="0" presId="urn:microsoft.com/office/officeart/2005/8/layout/vList2"/>
    <dgm:cxn modelId="{06B452B9-9B0A-4AA4-9C57-803A79678BEF}" type="presParOf" srcId="{92715F63-4D79-4F90-8702-2C1B9A744CFA}" destId="{6F91516A-F1D2-4091-BB39-2BE5199B2FA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08B881-9096-47DE-95B7-502B5A8E8B34}">
      <dsp:nvSpPr>
        <dsp:cNvPr id="0" name=""/>
        <dsp:cNvSpPr/>
      </dsp:nvSpPr>
      <dsp:spPr>
        <a:xfrm>
          <a:off x="2161534" y="458505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D7EDFE-FC98-4026-8F2D-42F3FB5774C2}">
      <dsp:nvSpPr>
        <dsp:cNvPr id="0" name=""/>
        <dsp:cNvSpPr/>
      </dsp:nvSpPr>
      <dsp:spPr>
        <a:xfrm>
          <a:off x="757534" y="211818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>
              <a:latin typeface="Arial Nova"/>
            </a:rPr>
            <a:t>Precompiled:</a:t>
          </a:r>
        </a:p>
      </dsp:txBody>
      <dsp:txXfrm>
        <a:off x="757534" y="2118181"/>
        <a:ext cx="4320000" cy="648000"/>
      </dsp:txXfrm>
    </dsp:sp>
    <dsp:sp modelId="{E29BD683-D266-4A30-934A-94EE003CAB71}">
      <dsp:nvSpPr>
        <dsp:cNvPr id="0" name=""/>
        <dsp:cNvSpPr/>
      </dsp:nvSpPr>
      <dsp:spPr>
        <a:xfrm>
          <a:off x="757534" y="2834867"/>
          <a:ext cx="4320000" cy="1057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Arial Nova"/>
            </a:rPr>
            <a:t>Once a stored procedure is created, it is precompiled and stored in the database.</a:t>
          </a:r>
          <a:br>
            <a:rPr lang="en-US" sz="1700" kern="1200">
              <a:latin typeface="Arial Nova"/>
            </a:rPr>
          </a:br>
          <a:r>
            <a:rPr lang="en-US" sz="1700" kern="1200">
              <a:latin typeface="Arial Nova"/>
            </a:rPr>
            <a:t>The DBMS doesn't need to parse and compile the SQL each time it's executed.</a:t>
          </a:r>
        </a:p>
      </dsp:txBody>
      <dsp:txXfrm>
        <a:off x="757534" y="2834867"/>
        <a:ext cx="4320000" cy="1057964"/>
      </dsp:txXfrm>
    </dsp:sp>
    <dsp:sp modelId="{8FC1467B-0507-473F-9461-DDDB401DE851}">
      <dsp:nvSpPr>
        <dsp:cNvPr id="0" name=""/>
        <dsp:cNvSpPr/>
      </dsp:nvSpPr>
      <dsp:spPr>
        <a:xfrm>
          <a:off x="7237534" y="458505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0392D6-A5CA-4CBF-B5F0-4ADA31DB2671}">
      <dsp:nvSpPr>
        <dsp:cNvPr id="0" name=""/>
        <dsp:cNvSpPr/>
      </dsp:nvSpPr>
      <dsp:spPr>
        <a:xfrm>
          <a:off x="5833534" y="211818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>
              <a:latin typeface="Arial Nova"/>
            </a:rPr>
            <a:t>Encapsulation:</a:t>
          </a:r>
        </a:p>
      </dsp:txBody>
      <dsp:txXfrm>
        <a:off x="5833534" y="2118181"/>
        <a:ext cx="4320000" cy="648000"/>
      </dsp:txXfrm>
    </dsp:sp>
    <dsp:sp modelId="{4D29B387-FA1A-47CF-9BC8-6DBAA5B087B6}">
      <dsp:nvSpPr>
        <dsp:cNvPr id="0" name=""/>
        <dsp:cNvSpPr/>
      </dsp:nvSpPr>
      <dsp:spPr>
        <a:xfrm>
          <a:off x="5833534" y="2834867"/>
          <a:ext cx="4320000" cy="1057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Arial Nova"/>
            </a:rPr>
            <a:t>Stored procedures allow you to group related SQL statements into a single logical unit.</a:t>
          </a:r>
        </a:p>
      </dsp:txBody>
      <dsp:txXfrm>
        <a:off x="5833534" y="2834867"/>
        <a:ext cx="4320000" cy="10579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0ADF7E-72AA-4CB6-B3AE-D9AEBC3BEE01}">
      <dsp:nvSpPr>
        <dsp:cNvPr id="0" name=""/>
        <dsp:cNvSpPr/>
      </dsp:nvSpPr>
      <dsp:spPr>
        <a:xfrm>
          <a:off x="0" y="50209"/>
          <a:ext cx="9880893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Arial Nova"/>
            </a:rPr>
            <a:t>Parameterization:</a:t>
          </a:r>
        </a:p>
      </dsp:txBody>
      <dsp:txXfrm>
        <a:off x="37467" y="87676"/>
        <a:ext cx="9805959" cy="692586"/>
      </dsp:txXfrm>
    </dsp:sp>
    <dsp:sp modelId="{1CCBEC4A-851F-4D62-8F90-C9212D51917E}">
      <dsp:nvSpPr>
        <dsp:cNvPr id="0" name=""/>
        <dsp:cNvSpPr/>
      </dsp:nvSpPr>
      <dsp:spPr>
        <a:xfrm>
          <a:off x="0" y="817729"/>
          <a:ext cx="9880893" cy="778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3718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>
              <a:latin typeface="Arial Nova"/>
            </a:rPr>
            <a:t>Stored procedures often accept input parameters, and they may also return output parameters or result sets.</a:t>
          </a:r>
        </a:p>
      </dsp:txBody>
      <dsp:txXfrm>
        <a:off x="0" y="817729"/>
        <a:ext cx="9880893" cy="778320"/>
      </dsp:txXfrm>
    </dsp:sp>
    <dsp:sp modelId="{47A09F7D-30F9-4B1B-A0F6-B42632BE8D1D}">
      <dsp:nvSpPr>
        <dsp:cNvPr id="0" name=""/>
        <dsp:cNvSpPr/>
      </dsp:nvSpPr>
      <dsp:spPr>
        <a:xfrm>
          <a:off x="0" y="1596049"/>
          <a:ext cx="9880893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Arial Nova"/>
            </a:rPr>
            <a:t>Security:</a:t>
          </a:r>
        </a:p>
      </dsp:txBody>
      <dsp:txXfrm>
        <a:off x="37467" y="1633516"/>
        <a:ext cx="9805959" cy="692586"/>
      </dsp:txXfrm>
    </dsp:sp>
    <dsp:sp modelId="{5255335F-ED71-4A29-B23B-2249313A8CDF}">
      <dsp:nvSpPr>
        <dsp:cNvPr id="0" name=""/>
        <dsp:cNvSpPr/>
      </dsp:nvSpPr>
      <dsp:spPr>
        <a:xfrm>
          <a:off x="0" y="2363569"/>
          <a:ext cx="9880893" cy="778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3718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kern="1200">
              <a:latin typeface="Arial Nova"/>
            </a:rPr>
            <a:t>You can control access to sensitive data by providing users with permissions</a:t>
          </a:r>
        </a:p>
      </dsp:txBody>
      <dsp:txXfrm>
        <a:off x="0" y="2363569"/>
        <a:ext cx="9880893" cy="778320"/>
      </dsp:txXfrm>
    </dsp:sp>
    <dsp:sp modelId="{6F91516A-F1D2-4091-BB39-2BE5199B2FA8}">
      <dsp:nvSpPr>
        <dsp:cNvPr id="0" name=""/>
        <dsp:cNvSpPr/>
      </dsp:nvSpPr>
      <dsp:spPr>
        <a:xfrm>
          <a:off x="0" y="3141889"/>
          <a:ext cx="9880893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Arial Nova"/>
            </a:rPr>
            <a:t>Error Handling</a:t>
          </a:r>
        </a:p>
      </dsp:txBody>
      <dsp:txXfrm>
        <a:off x="37467" y="3179356"/>
        <a:ext cx="9805959" cy="6925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26C0DF-4E0A-380C-9A50-DA89B96B10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29D530-232D-CE98-0F3C-439E28531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D28565-4F03-6BCE-7985-97DDA6ADD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53941D-11CA-0251-B7B2-8DD41C75B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2EBF14-92B3-E51B-A295-56FE1718A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39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C376C9-74D5-7952-26C2-43FBB5872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D69552-8638-1B44-BD61-FB22BC55F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F134EF-0EA0-B9A8-9AF6-1C8C6D021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0D173C-B639-5977-8C0A-C2A25A447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3DEA3A-6BAC-23DB-1CEC-E469DD92B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236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C07BE9-F230-969F-CAE5-3A010AC3D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B4C351-C4FA-599E-87C4-BC537F6C2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C511A5-935B-AF05-0740-C2FC8D6C8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E6F1DA-F873-943F-866F-3360C253C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60CD2F-147B-E1FB-9984-7CD6F3977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117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721C82-48EE-5D1C-0EBF-C1360F1F5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4893A2-C1A8-D799-8EF3-5A846C10F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5F72819-A78D-D87F-8FA4-F07CDCCF2F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CD94CF2-1C3C-5B2D-0850-3B105EFA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F1A5F95-E749-185F-B38C-886CE116F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8368E67-99C8-F811-F4FE-F309E1B42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038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CFB214-1B44-64BE-10D6-3BD89D8A9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79813F-F1F7-8E75-5427-62B8762CB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19C96E2-C31B-52AB-A87D-08B1E1B078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D2F952F-DE1C-E3FB-14A1-F107EB9DD2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10E4A1C-ABCF-020F-0488-634D86BE63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B1865A7-C24E-9B76-6FFA-2506257D4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69672FF-ADBA-5BCF-0DA8-77AAF27A4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A01FD01-9C31-601A-8D0A-EFB01697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541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D45805-694E-E22D-CCE6-A0B9570DF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F0C02CE-133B-4968-C2E3-CADBBE774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FB37F93-5F94-D951-BFBA-F79408AA6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0833A0-8F3D-FF04-4AA9-1237E306C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397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F77953C-D6E8-ECEF-FB38-C3E7447E3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7C1EE03-9AFB-2CDB-0CAE-7D7EF3987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0828540-37C0-CC3E-667B-C783B29EC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58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4E19D3-C9C6-2756-AC73-FD7288D55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0C1796-0436-8B61-67CB-4593AF8A3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C63C772-17C1-C472-5CE5-F284E7E00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D4F9E0F-C50E-97E5-03E5-8C42FD845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2CBA57-03FD-137C-BC3B-6D2774F02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6CEE217-48FB-CA02-BD69-CF55C4EAD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877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CFA155-8EC3-AD06-7AC1-45EE35D9D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180F5D3-A536-64BF-E07A-D53200F064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D86C6B4-3E56-52E4-40C7-D6792C500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25B77F5-DFAD-9F29-ABF6-3B5EB4518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DF2AF91-8204-C430-2560-E3FD39C6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C98205B-2B5A-E0C0-1783-33C75BC8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136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03AE00-968F-256B-124A-AD6F41327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FFAC83A-9D2E-2CC7-F997-7E8171DF0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9AD98F-3C29-E3A9-6096-510A0A275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337382-2553-EC81-D914-F02A8C431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01A9AB-0790-50D2-4A03-CB1B94C96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130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FE2FC47-00E3-922A-B6B6-08A38FF312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138944B-F12B-3CE7-A725-708EB588FF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BA6A73-30AB-4663-05C3-CF952D10B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7639C8-F195-706C-1095-E297C1E09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BF5553-DC9B-7254-65C9-E7632CA64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048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1D8F71-9006-A087-9354-28C464016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9C14661-D671-8711-8D7F-7F9E4571A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6A1BAF2-ED92-44FD-1B55-55B06B677C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9A130F-FC65-9626-E457-5AB5C6F277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359F60-37C7-3FBF-A49E-886EC94DCC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57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r>
              <a:rPr lang="en-US" sz="6600"/>
              <a:t>Lecture 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ea typeface="+mn-lt"/>
                <a:cs typeface="+mn-lt"/>
              </a:rPr>
              <a:t>Stored Procedure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FA1C7-4581-8314-1970-605CAE738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b="1">
                <a:latin typeface="Arial Nova"/>
                <a:ea typeface="+mj-lt"/>
                <a:cs typeface="Arial"/>
              </a:rPr>
              <a:t>PostgreSQL </a:t>
            </a:r>
            <a:r>
              <a:rPr lang="en-US" sz="4000" b="1">
                <a:latin typeface="Arial Nova"/>
                <a:ea typeface="+mj-lt"/>
                <a:cs typeface="+mj-lt"/>
              </a:rPr>
              <a:t>Procedure</a:t>
            </a:r>
            <a:endParaRPr lang="en-US" sz="4000" b="1">
              <a:latin typeface="Arial Nova"/>
              <a:ea typeface="+mj-lt"/>
              <a:cs typeface="Arial"/>
            </a:endParaRPr>
          </a:p>
          <a:p>
            <a:endParaRPr lang="en-US" sz="2800" b="1">
              <a:latin typeface="Arial Nov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3E313-1B7E-0818-A221-3DE1AFC90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>
                <a:latin typeface="Arial Nova"/>
                <a:ea typeface="+mn-lt"/>
                <a:cs typeface="+mn-lt"/>
              </a:rPr>
              <a:t>A </a:t>
            </a:r>
            <a:r>
              <a:rPr lang="en-US" sz="2400" b="1">
                <a:latin typeface="Arial Nova"/>
                <a:ea typeface="+mn-lt"/>
                <a:cs typeface="+mn-lt"/>
              </a:rPr>
              <a:t>stored procedure</a:t>
            </a:r>
            <a:r>
              <a:rPr lang="en-US" sz="2400">
                <a:latin typeface="Arial Nova"/>
                <a:ea typeface="+mn-lt"/>
                <a:cs typeface="+mn-lt"/>
              </a:rPr>
              <a:t> is a set of SQL statements that can be stored and executed in a database management system (DBMS). </a:t>
            </a:r>
          </a:p>
          <a:p>
            <a:endParaRPr lang="en-US" sz="2400">
              <a:latin typeface="Arial Nova"/>
              <a:ea typeface="+mn-lt"/>
              <a:cs typeface="+mn-lt"/>
            </a:endParaRPr>
          </a:p>
          <a:p>
            <a:r>
              <a:rPr lang="en-US" sz="2400">
                <a:latin typeface="Arial Nova"/>
                <a:ea typeface="+mn-lt"/>
                <a:cs typeface="+mn-lt"/>
              </a:rPr>
              <a:t>It is a way to encapsulate a sequence of database operations, allowing for code reuse, better performance, and improved security. </a:t>
            </a:r>
          </a:p>
          <a:p>
            <a:endParaRPr lang="en-US" sz="2400">
              <a:latin typeface="Arial Nova"/>
              <a:ea typeface="+mn-lt"/>
              <a:cs typeface="+mn-lt"/>
            </a:endParaRPr>
          </a:p>
          <a:p>
            <a:r>
              <a:rPr lang="en-US" sz="2400">
                <a:latin typeface="Arial Nova"/>
                <a:ea typeface="+mn-lt"/>
                <a:cs typeface="+mn-lt"/>
              </a:rPr>
              <a:t>Stored procedures are typically written in SQL, but they can also contain procedural logic (such as loops, conditionals, and error handling), depending on the DBMS.</a:t>
            </a:r>
            <a:endParaRPr lang="en-US" sz="2400">
              <a:latin typeface="Arial Nova"/>
            </a:endParaRPr>
          </a:p>
        </p:txBody>
      </p:sp>
    </p:spTree>
    <p:extLst>
      <p:ext uri="{BB962C8B-B14F-4D97-AF65-F5344CB8AC3E}">
        <p14:creationId xmlns:p14="http://schemas.microsoft.com/office/powerpoint/2010/main" val="2791453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3360" y="238119"/>
            <a:ext cx="7393781" cy="969255"/>
          </a:xfrm>
          <a:prstGeom prst="rect">
            <a:avLst/>
          </a:prstGeom>
        </p:spPr>
        <p:txBody>
          <a:bodyPr vert="horz" wrap="square" lIns="0" tIns="289321" rIns="0" bIns="0" rtlCol="0" anchor="ctr">
            <a:spAutoFit/>
          </a:bodyPr>
          <a:lstStyle/>
          <a:p>
            <a:pPr marL="1792571">
              <a:lnSpc>
                <a:spcPct val="100000"/>
              </a:lnSpc>
              <a:spcBef>
                <a:spcPts val="70"/>
              </a:spcBef>
            </a:pPr>
            <a:r>
              <a:rPr spc="88"/>
              <a:t>Advantage</a:t>
            </a:r>
            <a:r>
              <a:rPr spc="14"/>
              <a:t> </a:t>
            </a:r>
            <a:r>
              <a:rPr spc="-35"/>
              <a:t>1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113360" y="1283643"/>
            <a:ext cx="7393781" cy="2972969"/>
          </a:xfrm>
          <a:prstGeom prst="rect">
            <a:avLst/>
          </a:prstGeom>
        </p:spPr>
        <p:txBody>
          <a:bodyPr vert="horz" wrap="square" lIns="0" tIns="23217" rIns="0" bIns="0" rtlCol="0">
            <a:spAutoFit/>
          </a:bodyPr>
          <a:lstStyle/>
          <a:p>
            <a:pPr marL="329494" marR="461648" indent="-311635" algn="just">
              <a:lnSpc>
                <a:spcPts val="2672"/>
              </a:lnSpc>
              <a:spcBef>
                <a:spcPts val="183"/>
              </a:spcBef>
              <a:buSzPct val="145312"/>
              <a:tabLst>
                <a:tab pos="330387" algn="l"/>
              </a:tabLst>
            </a:pPr>
            <a:r>
              <a:rPr sz="2250"/>
              <a:t>Reduce</a:t>
            </a:r>
            <a:r>
              <a:rPr sz="2250" spc="60"/>
              <a:t> </a:t>
            </a:r>
            <a:r>
              <a:rPr sz="2250"/>
              <a:t>the</a:t>
            </a:r>
            <a:r>
              <a:rPr sz="2250" spc="60"/>
              <a:t> </a:t>
            </a:r>
            <a:r>
              <a:rPr sz="2250"/>
              <a:t>number</a:t>
            </a:r>
            <a:r>
              <a:rPr sz="2250" spc="60"/>
              <a:t> </a:t>
            </a:r>
            <a:r>
              <a:rPr sz="2250" spc="35"/>
              <a:t>of</a:t>
            </a:r>
            <a:r>
              <a:rPr sz="2250" spc="60"/>
              <a:t> </a:t>
            </a:r>
            <a:r>
              <a:rPr sz="2250"/>
              <a:t>round</a:t>
            </a:r>
            <a:r>
              <a:rPr sz="2250" spc="63"/>
              <a:t> </a:t>
            </a:r>
            <a:r>
              <a:rPr sz="2250"/>
              <a:t>trips</a:t>
            </a:r>
            <a:r>
              <a:rPr sz="2250" spc="60"/>
              <a:t> </a:t>
            </a:r>
            <a:r>
              <a:rPr sz="2250"/>
              <a:t>between</a:t>
            </a:r>
            <a:r>
              <a:rPr sz="2250" spc="60"/>
              <a:t> </a:t>
            </a:r>
            <a:r>
              <a:rPr sz="2250" spc="-7"/>
              <a:t>application 	</a:t>
            </a:r>
            <a:r>
              <a:rPr sz="2250"/>
              <a:t>and</a:t>
            </a:r>
            <a:r>
              <a:rPr sz="2250" spc="63"/>
              <a:t> </a:t>
            </a:r>
            <a:r>
              <a:rPr sz="2250"/>
              <a:t>database</a:t>
            </a:r>
            <a:r>
              <a:rPr sz="2250" spc="63"/>
              <a:t> </a:t>
            </a:r>
            <a:r>
              <a:rPr sz="2250" spc="-7"/>
              <a:t>servers.</a:t>
            </a:r>
            <a:endParaRPr sz="2250"/>
          </a:p>
          <a:p>
            <a:pPr algn="just">
              <a:lnSpc>
                <a:spcPct val="100000"/>
              </a:lnSpc>
              <a:spcBef>
                <a:spcPts val="352"/>
              </a:spcBef>
              <a:buFont typeface="Arial MT"/>
              <a:buChar char="•"/>
            </a:pPr>
            <a:endParaRPr sz="2250"/>
          </a:p>
          <a:p>
            <a:pPr marL="329494" marR="12501" indent="-311635" algn="just">
              <a:lnSpc>
                <a:spcPts val="2672"/>
              </a:lnSpc>
              <a:buSzPct val="145312"/>
              <a:tabLst>
                <a:tab pos="330387" algn="l"/>
              </a:tabLst>
            </a:pPr>
            <a:r>
              <a:rPr sz="2250"/>
              <a:t>All</a:t>
            </a:r>
            <a:r>
              <a:rPr sz="2250" spc="4"/>
              <a:t> </a:t>
            </a:r>
            <a:r>
              <a:rPr sz="2250"/>
              <a:t>SQL</a:t>
            </a:r>
            <a:r>
              <a:rPr sz="2250" spc="4"/>
              <a:t> </a:t>
            </a:r>
            <a:r>
              <a:rPr sz="2250"/>
              <a:t>statements</a:t>
            </a:r>
            <a:r>
              <a:rPr sz="2250" spc="4"/>
              <a:t> </a:t>
            </a:r>
            <a:r>
              <a:rPr sz="2250"/>
              <a:t>are</a:t>
            </a:r>
            <a:r>
              <a:rPr sz="2250" spc="7"/>
              <a:t> </a:t>
            </a:r>
            <a:r>
              <a:rPr sz="2250" spc="35"/>
              <a:t>wrapped</a:t>
            </a:r>
            <a:r>
              <a:rPr sz="2250" spc="4"/>
              <a:t> </a:t>
            </a:r>
            <a:r>
              <a:rPr sz="2250"/>
              <a:t>inside</a:t>
            </a:r>
            <a:r>
              <a:rPr sz="2250" spc="4"/>
              <a:t> </a:t>
            </a:r>
            <a:r>
              <a:rPr sz="2250"/>
              <a:t>a</a:t>
            </a:r>
            <a:r>
              <a:rPr sz="2250" spc="7"/>
              <a:t> </a:t>
            </a:r>
            <a:r>
              <a:rPr sz="2250"/>
              <a:t>function</a:t>
            </a:r>
            <a:r>
              <a:rPr sz="2250" spc="4"/>
              <a:t> </a:t>
            </a:r>
            <a:r>
              <a:rPr sz="2250" spc="-7"/>
              <a:t>stored 	</a:t>
            </a:r>
            <a:r>
              <a:rPr sz="2250"/>
              <a:t>in</a:t>
            </a:r>
            <a:r>
              <a:rPr sz="2250" spc="14"/>
              <a:t> </a:t>
            </a:r>
            <a:r>
              <a:rPr sz="2250"/>
              <a:t>the</a:t>
            </a:r>
            <a:r>
              <a:rPr sz="2250" spc="14"/>
              <a:t> </a:t>
            </a:r>
            <a:r>
              <a:rPr sz="2250"/>
              <a:t>PostgreSQL</a:t>
            </a:r>
            <a:r>
              <a:rPr sz="2250" spc="14"/>
              <a:t> </a:t>
            </a:r>
            <a:r>
              <a:rPr sz="2250"/>
              <a:t>database</a:t>
            </a:r>
            <a:r>
              <a:rPr sz="2250" spc="14"/>
              <a:t> </a:t>
            </a:r>
            <a:r>
              <a:rPr sz="2250"/>
              <a:t>server</a:t>
            </a:r>
            <a:r>
              <a:rPr sz="2250" spc="18"/>
              <a:t> </a:t>
            </a:r>
            <a:r>
              <a:rPr sz="2250"/>
              <a:t>so</a:t>
            </a:r>
            <a:r>
              <a:rPr sz="2250" spc="14"/>
              <a:t> </a:t>
            </a:r>
            <a:r>
              <a:rPr sz="2250"/>
              <a:t>the</a:t>
            </a:r>
            <a:r>
              <a:rPr sz="2250" spc="14"/>
              <a:t> </a:t>
            </a:r>
            <a:r>
              <a:rPr sz="2250"/>
              <a:t>application</a:t>
            </a:r>
            <a:r>
              <a:rPr sz="2250" spc="14"/>
              <a:t> </a:t>
            </a:r>
            <a:r>
              <a:rPr sz="2250" spc="-14"/>
              <a:t>only 	</a:t>
            </a:r>
            <a:r>
              <a:rPr sz="2250"/>
              <a:t>has</a:t>
            </a:r>
            <a:r>
              <a:rPr sz="2250" spc="14"/>
              <a:t> </a:t>
            </a:r>
            <a:r>
              <a:rPr sz="2250" spc="53"/>
              <a:t>to</a:t>
            </a:r>
            <a:r>
              <a:rPr sz="2250" spc="14"/>
              <a:t> </a:t>
            </a:r>
            <a:r>
              <a:rPr sz="2250"/>
              <a:t>issue</a:t>
            </a:r>
            <a:r>
              <a:rPr sz="2250" spc="14"/>
              <a:t> </a:t>
            </a:r>
            <a:r>
              <a:rPr sz="2250"/>
              <a:t>a</a:t>
            </a:r>
            <a:r>
              <a:rPr sz="2250" spc="14"/>
              <a:t> </a:t>
            </a:r>
            <a:r>
              <a:rPr sz="2250"/>
              <a:t>function</a:t>
            </a:r>
            <a:r>
              <a:rPr sz="2250" spc="14"/>
              <a:t> </a:t>
            </a:r>
            <a:r>
              <a:rPr sz="2250"/>
              <a:t>call</a:t>
            </a:r>
            <a:r>
              <a:rPr sz="2250" spc="18"/>
              <a:t> </a:t>
            </a:r>
            <a:r>
              <a:rPr sz="2250" spc="53"/>
              <a:t>to</a:t>
            </a:r>
            <a:r>
              <a:rPr sz="2250" spc="14"/>
              <a:t> </a:t>
            </a:r>
            <a:r>
              <a:rPr sz="2250"/>
              <a:t>get</a:t>
            </a:r>
            <a:r>
              <a:rPr sz="2250" spc="14"/>
              <a:t> </a:t>
            </a:r>
            <a:r>
              <a:rPr sz="2250"/>
              <a:t>the</a:t>
            </a:r>
            <a:r>
              <a:rPr sz="2250" spc="14"/>
              <a:t> </a:t>
            </a:r>
            <a:r>
              <a:rPr sz="2250"/>
              <a:t>result</a:t>
            </a:r>
            <a:r>
              <a:rPr sz="2250" spc="14"/>
              <a:t> </a:t>
            </a:r>
            <a:r>
              <a:rPr sz="2250" spc="35"/>
              <a:t>back</a:t>
            </a:r>
            <a:r>
              <a:rPr sz="2250" spc="18"/>
              <a:t> </a:t>
            </a:r>
            <a:r>
              <a:rPr sz="2250" spc="-7"/>
              <a:t>instead 	</a:t>
            </a:r>
            <a:r>
              <a:rPr sz="2250" spc="35"/>
              <a:t>of</a:t>
            </a:r>
            <a:r>
              <a:rPr sz="2250" spc="56"/>
              <a:t> </a:t>
            </a:r>
            <a:r>
              <a:rPr sz="2250"/>
              <a:t>sending</a:t>
            </a:r>
            <a:r>
              <a:rPr sz="2250" spc="60"/>
              <a:t> </a:t>
            </a:r>
            <a:r>
              <a:rPr sz="2250"/>
              <a:t>multiple</a:t>
            </a:r>
            <a:r>
              <a:rPr sz="2250" spc="56"/>
              <a:t> </a:t>
            </a:r>
            <a:r>
              <a:rPr sz="2250"/>
              <a:t>SQL</a:t>
            </a:r>
            <a:r>
              <a:rPr sz="2250" spc="60"/>
              <a:t> </a:t>
            </a:r>
            <a:r>
              <a:rPr sz="2250"/>
              <a:t>statements</a:t>
            </a:r>
            <a:r>
              <a:rPr sz="2250" spc="56"/>
              <a:t> </a:t>
            </a:r>
            <a:r>
              <a:rPr sz="2250"/>
              <a:t>and</a:t>
            </a:r>
            <a:r>
              <a:rPr sz="2250" spc="60"/>
              <a:t> </a:t>
            </a:r>
            <a:r>
              <a:rPr sz="2250"/>
              <a:t>wait</a:t>
            </a:r>
            <a:r>
              <a:rPr sz="2250" spc="60"/>
              <a:t> </a:t>
            </a:r>
            <a:r>
              <a:rPr sz="2250"/>
              <a:t>for</a:t>
            </a:r>
            <a:r>
              <a:rPr sz="2250" spc="56"/>
              <a:t> </a:t>
            </a:r>
            <a:r>
              <a:rPr sz="2250"/>
              <a:t>the</a:t>
            </a:r>
            <a:r>
              <a:rPr sz="2250" spc="60"/>
              <a:t> </a:t>
            </a:r>
            <a:r>
              <a:rPr sz="2250" spc="-7"/>
              <a:t>result 	</a:t>
            </a:r>
            <a:r>
              <a:rPr sz="2250"/>
              <a:t>between</a:t>
            </a:r>
            <a:r>
              <a:rPr sz="2250" spc="42"/>
              <a:t> </a:t>
            </a:r>
            <a:r>
              <a:rPr sz="2250"/>
              <a:t>each</a:t>
            </a:r>
            <a:r>
              <a:rPr sz="2250" spc="42"/>
              <a:t> </a:t>
            </a:r>
            <a:r>
              <a:rPr sz="2250" spc="-7"/>
              <a:t>call.</a:t>
            </a:r>
            <a:endParaRPr sz="22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3360" y="238119"/>
            <a:ext cx="7393781" cy="969255"/>
          </a:xfrm>
          <a:prstGeom prst="rect">
            <a:avLst/>
          </a:prstGeom>
        </p:spPr>
        <p:txBody>
          <a:bodyPr vert="horz" wrap="square" lIns="0" tIns="289321" rIns="0" bIns="0" rtlCol="0" anchor="ctr">
            <a:spAutoFit/>
          </a:bodyPr>
          <a:lstStyle/>
          <a:p>
            <a:pPr marL="1792571">
              <a:lnSpc>
                <a:spcPct val="100000"/>
              </a:lnSpc>
              <a:spcBef>
                <a:spcPts val="70"/>
              </a:spcBef>
            </a:pPr>
            <a:r>
              <a:rPr spc="88"/>
              <a:t>Advantage</a:t>
            </a:r>
            <a:r>
              <a:rPr spc="14"/>
              <a:t> </a:t>
            </a:r>
            <a:r>
              <a:rPr spc="-35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20516" y="3500438"/>
            <a:ext cx="7032129" cy="1060386"/>
          </a:xfrm>
          <a:prstGeom prst="rect">
            <a:avLst/>
          </a:prstGeom>
        </p:spPr>
        <p:txBody>
          <a:bodyPr vert="horz" wrap="square" lIns="0" tIns="21431" rIns="0" bIns="0" rtlCol="0">
            <a:spAutoFit/>
          </a:bodyPr>
          <a:lstStyle/>
          <a:p>
            <a:pPr marL="320564" marR="3572" indent="-311635" algn="just">
              <a:lnSpc>
                <a:spcPts val="2672"/>
              </a:lnSpc>
              <a:spcBef>
                <a:spcPts val="169"/>
              </a:spcBef>
              <a:buClr>
                <a:srgbClr val="000000"/>
              </a:buClr>
              <a:buSzPct val="145312"/>
              <a:buChar char="•"/>
              <a:tabLst>
                <a:tab pos="321457" algn="l"/>
              </a:tabLst>
            </a:pPr>
            <a:r>
              <a:rPr sz="2250">
                <a:solidFill>
                  <a:srgbClr val="EE220C"/>
                </a:solidFill>
                <a:latin typeface="Arial MT"/>
                <a:cs typeface="Arial MT"/>
              </a:rPr>
              <a:t>Increase</a:t>
            </a:r>
            <a:r>
              <a:rPr sz="2250" spc="42">
                <a:solidFill>
                  <a:srgbClr val="EE220C"/>
                </a:solidFill>
                <a:latin typeface="Arial MT"/>
                <a:cs typeface="Arial MT"/>
              </a:rPr>
              <a:t> </a:t>
            </a:r>
            <a:r>
              <a:rPr sz="2250">
                <a:solidFill>
                  <a:srgbClr val="EE220C"/>
                </a:solidFill>
                <a:latin typeface="Arial MT"/>
                <a:cs typeface="Arial MT"/>
              </a:rPr>
              <a:t>application</a:t>
            </a:r>
            <a:r>
              <a:rPr sz="2250" spc="46">
                <a:solidFill>
                  <a:srgbClr val="EE220C"/>
                </a:solidFill>
                <a:latin typeface="Arial MT"/>
                <a:cs typeface="Arial MT"/>
              </a:rPr>
              <a:t> </a:t>
            </a:r>
            <a:r>
              <a:rPr sz="2250">
                <a:solidFill>
                  <a:srgbClr val="EE220C"/>
                </a:solidFill>
                <a:latin typeface="Arial MT"/>
                <a:cs typeface="Arial MT"/>
              </a:rPr>
              <a:t>performance</a:t>
            </a:r>
            <a:r>
              <a:rPr sz="2250" spc="42">
                <a:solidFill>
                  <a:srgbClr val="EE220C"/>
                </a:solidFill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because</a:t>
            </a:r>
            <a:r>
              <a:rPr sz="2250" spc="46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the</a:t>
            </a:r>
            <a:r>
              <a:rPr sz="2250" spc="42">
                <a:latin typeface="Arial MT"/>
                <a:cs typeface="Arial MT"/>
              </a:rPr>
              <a:t> </a:t>
            </a:r>
            <a:r>
              <a:rPr sz="2250" spc="-7">
                <a:latin typeface="Arial MT"/>
                <a:cs typeface="Arial MT"/>
              </a:rPr>
              <a:t>user- 	</a:t>
            </a:r>
            <a:r>
              <a:rPr sz="2250">
                <a:latin typeface="Arial MT"/>
                <a:cs typeface="Arial MT"/>
              </a:rPr>
              <a:t>defined</a:t>
            </a:r>
            <a:r>
              <a:rPr sz="2250" spc="88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functions</a:t>
            </a:r>
            <a:r>
              <a:rPr sz="2250" spc="88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are</a:t>
            </a:r>
            <a:r>
              <a:rPr sz="2250" spc="88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pre-compiled</a:t>
            </a:r>
            <a:r>
              <a:rPr sz="2250" spc="88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and</a:t>
            </a:r>
            <a:r>
              <a:rPr sz="2250" spc="91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stored</a:t>
            </a:r>
            <a:r>
              <a:rPr sz="2250" spc="88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in</a:t>
            </a:r>
            <a:r>
              <a:rPr sz="2250" spc="88">
                <a:latin typeface="Arial MT"/>
                <a:cs typeface="Arial MT"/>
              </a:rPr>
              <a:t> </a:t>
            </a:r>
            <a:r>
              <a:rPr sz="2250" spc="-18">
                <a:latin typeface="Arial MT"/>
                <a:cs typeface="Arial MT"/>
              </a:rPr>
              <a:t>the 	</a:t>
            </a:r>
            <a:r>
              <a:rPr sz="2250">
                <a:latin typeface="Arial MT"/>
                <a:cs typeface="Arial MT"/>
              </a:rPr>
              <a:t>PostgreSQL</a:t>
            </a:r>
            <a:r>
              <a:rPr sz="2250" spc="-32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database</a:t>
            </a:r>
            <a:r>
              <a:rPr sz="2250" spc="-28">
                <a:latin typeface="Arial MT"/>
                <a:cs typeface="Arial MT"/>
              </a:rPr>
              <a:t> </a:t>
            </a:r>
            <a:r>
              <a:rPr sz="2250" spc="-7">
                <a:latin typeface="Arial MT"/>
                <a:cs typeface="Arial MT"/>
              </a:rPr>
              <a:t>server.</a:t>
            </a:r>
            <a:endParaRPr sz="2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3360" y="238119"/>
            <a:ext cx="7393781" cy="969255"/>
          </a:xfrm>
          <a:prstGeom prst="rect">
            <a:avLst/>
          </a:prstGeom>
        </p:spPr>
        <p:txBody>
          <a:bodyPr vert="horz" wrap="square" lIns="0" tIns="289321" rIns="0" bIns="0" rtlCol="0" anchor="ctr">
            <a:spAutoFit/>
          </a:bodyPr>
          <a:lstStyle/>
          <a:p>
            <a:pPr marL="1792571">
              <a:lnSpc>
                <a:spcPct val="100000"/>
              </a:lnSpc>
              <a:spcBef>
                <a:spcPts val="70"/>
              </a:spcBef>
            </a:pPr>
            <a:r>
              <a:rPr spc="88"/>
              <a:t>Advantage</a:t>
            </a:r>
            <a:r>
              <a:rPr spc="14"/>
              <a:t> </a:t>
            </a:r>
            <a:r>
              <a:rPr spc="-35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20516" y="3670102"/>
            <a:ext cx="7598271" cy="714138"/>
          </a:xfrm>
          <a:prstGeom prst="rect">
            <a:avLst/>
          </a:prstGeom>
        </p:spPr>
        <p:txBody>
          <a:bodyPr vert="horz" wrap="square" lIns="0" tIns="21431" rIns="0" bIns="0" rtlCol="0">
            <a:spAutoFit/>
          </a:bodyPr>
          <a:lstStyle/>
          <a:p>
            <a:pPr marL="320564" marR="3572" indent="-311635">
              <a:lnSpc>
                <a:spcPts val="2672"/>
              </a:lnSpc>
              <a:spcBef>
                <a:spcPts val="169"/>
              </a:spcBef>
              <a:buSzPct val="145312"/>
              <a:buChar char="•"/>
              <a:tabLst>
                <a:tab pos="321457" algn="l"/>
              </a:tabLst>
            </a:pPr>
            <a:r>
              <a:rPr sz="2250">
                <a:latin typeface="Arial MT"/>
                <a:cs typeface="Arial MT"/>
              </a:rPr>
              <a:t>Be</a:t>
            </a:r>
            <a:r>
              <a:rPr sz="2250" spc="11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able</a:t>
            </a:r>
            <a:r>
              <a:rPr sz="2250" spc="14">
                <a:latin typeface="Arial MT"/>
                <a:cs typeface="Arial MT"/>
              </a:rPr>
              <a:t> </a:t>
            </a:r>
            <a:r>
              <a:rPr sz="2250" spc="53">
                <a:latin typeface="Arial MT"/>
                <a:cs typeface="Arial MT"/>
              </a:rPr>
              <a:t>to</a:t>
            </a:r>
            <a:r>
              <a:rPr sz="2250" spc="11">
                <a:latin typeface="Arial MT"/>
                <a:cs typeface="Arial MT"/>
              </a:rPr>
              <a:t> </a:t>
            </a:r>
            <a:r>
              <a:rPr sz="2250">
                <a:solidFill>
                  <a:srgbClr val="EE220C"/>
                </a:solidFill>
                <a:latin typeface="Arial MT"/>
                <a:cs typeface="Arial MT"/>
              </a:rPr>
              <a:t>reuse</a:t>
            </a:r>
            <a:r>
              <a:rPr sz="2250" spc="14">
                <a:solidFill>
                  <a:srgbClr val="EE220C"/>
                </a:solidFill>
                <a:latin typeface="Arial MT"/>
                <a:cs typeface="Arial MT"/>
              </a:rPr>
              <a:t> </a:t>
            </a:r>
            <a:r>
              <a:rPr sz="2250">
                <a:solidFill>
                  <a:srgbClr val="EE220C"/>
                </a:solidFill>
                <a:latin typeface="Arial MT"/>
                <a:cs typeface="Arial MT"/>
              </a:rPr>
              <a:t>in</a:t>
            </a:r>
            <a:r>
              <a:rPr sz="2250" spc="11">
                <a:solidFill>
                  <a:srgbClr val="EE220C"/>
                </a:solidFill>
                <a:latin typeface="Arial MT"/>
                <a:cs typeface="Arial MT"/>
              </a:rPr>
              <a:t> </a:t>
            </a:r>
            <a:r>
              <a:rPr sz="2250">
                <a:solidFill>
                  <a:srgbClr val="EE220C"/>
                </a:solidFill>
                <a:latin typeface="Arial MT"/>
                <a:cs typeface="Arial MT"/>
              </a:rPr>
              <a:t>many</a:t>
            </a:r>
            <a:r>
              <a:rPr sz="2250" spc="14">
                <a:solidFill>
                  <a:srgbClr val="EE220C"/>
                </a:solidFill>
                <a:latin typeface="Arial MT"/>
                <a:cs typeface="Arial MT"/>
              </a:rPr>
              <a:t> </a:t>
            </a:r>
            <a:r>
              <a:rPr sz="2250">
                <a:solidFill>
                  <a:srgbClr val="EE220C"/>
                </a:solidFill>
                <a:latin typeface="Arial MT"/>
                <a:cs typeface="Arial MT"/>
              </a:rPr>
              <a:t>applications</a:t>
            </a:r>
            <a:r>
              <a:rPr sz="2250">
                <a:latin typeface="Arial MT"/>
                <a:cs typeface="Arial MT"/>
              </a:rPr>
              <a:t>.</a:t>
            </a:r>
            <a:r>
              <a:rPr sz="2250" spc="14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Once</a:t>
            </a:r>
            <a:r>
              <a:rPr sz="2250" spc="11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you</a:t>
            </a:r>
            <a:r>
              <a:rPr sz="2250" spc="14">
                <a:latin typeface="Arial MT"/>
                <a:cs typeface="Arial MT"/>
              </a:rPr>
              <a:t> </a:t>
            </a:r>
            <a:r>
              <a:rPr sz="2250" spc="-7">
                <a:latin typeface="Arial MT"/>
                <a:cs typeface="Arial MT"/>
              </a:rPr>
              <a:t>develop 	</a:t>
            </a:r>
            <a:r>
              <a:rPr sz="2250">
                <a:latin typeface="Arial MT"/>
                <a:cs typeface="Arial MT"/>
              </a:rPr>
              <a:t>a</a:t>
            </a:r>
            <a:r>
              <a:rPr sz="2250" spc="7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function,</a:t>
            </a:r>
            <a:r>
              <a:rPr sz="2250" spc="7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you</a:t>
            </a:r>
            <a:r>
              <a:rPr sz="2250" spc="11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can</a:t>
            </a:r>
            <a:r>
              <a:rPr sz="2250" spc="7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reuse</a:t>
            </a:r>
            <a:r>
              <a:rPr sz="2250" spc="7">
                <a:latin typeface="Arial MT"/>
                <a:cs typeface="Arial MT"/>
              </a:rPr>
              <a:t> </a:t>
            </a:r>
            <a:r>
              <a:rPr sz="2250" spc="39">
                <a:latin typeface="Arial MT"/>
                <a:cs typeface="Arial MT"/>
              </a:rPr>
              <a:t>it</a:t>
            </a:r>
            <a:r>
              <a:rPr sz="2250" spc="11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in</a:t>
            </a:r>
            <a:r>
              <a:rPr sz="2250" spc="7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any</a:t>
            </a:r>
            <a:r>
              <a:rPr sz="2250" spc="7">
                <a:latin typeface="Arial MT"/>
                <a:cs typeface="Arial MT"/>
              </a:rPr>
              <a:t> </a:t>
            </a:r>
            <a:r>
              <a:rPr sz="2250" spc="-7">
                <a:latin typeface="Arial MT"/>
                <a:cs typeface="Arial MT"/>
              </a:rPr>
              <a:t>applications.</a:t>
            </a:r>
            <a:endParaRPr sz="2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3360" y="238119"/>
            <a:ext cx="7393781" cy="969255"/>
          </a:xfrm>
          <a:prstGeom prst="rect">
            <a:avLst/>
          </a:prstGeom>
        </p:spPr>
        <p:txBody>
          <a:bodyPr vert="horz" wrap="square" lIns="0" tIns="289321" rIns="0" bIns="0" rtlCol="0" anchor="ctr">
            <a:spAutoFit/>
          </a:bodyPr>
          <a:lstStyle/>
          <a:p>
            <a:pPr marL="1417537">
              <a:lnSpc>
                <a:spcPct val="100000"/>
              </a:lnSpc>
              <a:spcBef>
                <a:spcPts val="70"/>
              </a:spcBef>
            </a:pPr>
            <a:r>
              <a:rPr spc="77"/>
              <a:t>Disadvantages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93727" y="2786063"/>
            <a:ext cx="7452717" cy="2536952"/>
          </a:xfrm>
          <a:prstGeom prst="rect">
            <a:avLst/>
          </a:prstGeom>
        </p:spPr>
        <p:txBody>
          <a:bodyPr vert="horz" wrap="square" lIns="0" tIns="23217" rIns="0" bIns="0" rtlCol="0">
            <a:spAutoFit/>
          </a:bodyPr>
          <a:lstStyle/>
          <a:p>
            <a:pPr marL="347352" marR="12501" indent="-311635" algn="just">
              <a:lnSpc>
                <a:spcPts val="2672"/>
              </a:lnSpc>
              <a:spcBef>
                <a:spcPts val="183"/>
              </a:spcBef>
              <a:buSzPct val="145312"/>
              <a:buChar char="•"/>
              <a:tabLst>
                <a:tab pos="348245" algn="l"/>
              </a:tabLst>
            </a:pPr>
            <a:r>
              <a:rPr sz="2250">
                <a:latin typeface="Arial MT"/>
                <a:cs typeface="Arial MT"/>
              </a:rPr>
              <a:t>Slow</a:t>
            </a:r>
            <a:r>
              <a:rPr sz="2250" spc="35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in</a:t>
            </a:r>
            <a:r>
              <a:rPr sz="2250" spc="39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software</a:t>
            </a:r>
            <a:r>
              <a:rPr sz="2250" spc="39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development</a:t>
            </a:r>
            <a:r>
              <a:rPr sz="2250" spc="39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because</a:t>
            </a:r>
            <a:r>
              <a:rPr sz="2250" spc="39">
                <a:latin typeface="Arial MT"/>
                <a:cs typeface="Arial MT"/>
              </a:rPr>
              <a:t> it </a:t>
            </a:r>
            <a:r>
              <a:rPr sz="2250" spc="-7">
                <a:latin typeface="Arial MT"/>
                <a:cs typeface="Arial MT"/>
              </a:rPr>
              <a:t>requires 	</a:t>
            </a:r>
            <a:r>
              <a:rPr sz="2250">
                <a:latin typeface="Arial MT"/>
                <a:cs typeface="Arial MT"/>
              </a:rPr>
              <a:t>specialized</a:t>
            </a:r>
            <a:r>
              <a:rPr sz="2250" spc="18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skills</a:t>
            </a:r>
            <a:r>
              <a:rPr sz="2250" spc="18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that</a:t>
            </a:r>
            <a:r>
              <a:rPr sz="2250" spc="18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many</a:t>
            </a:r>
            <a:r>
              <a:rPr sz="2250" spc="18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developers</a:t>
            </a:r>
            <a:r>
              <a:rPr sz="2250" spc="18">
                <a:latin typeface="Arial MT"/>
                <a:cs typeface="Arial MT"/>
              </a:rPr>
              <a:t> </a:t>
            </a:r>
            <a:r>
              <a:rPr sz="2250" spc="60">
                <a:latin typeface="Arial MT"/>
                <a:cs typeface="Arial MT"/>
              </a:rPr>
              <a:t>do</a:t>
            </a:r>
            <a:r>
              <a:rPr sz="2250" spc="18">
                <a:latin typeface="Arial MT"/>
                <a:cs typeface="Arial MT"/>
              </a:rPr>
              <a:t> </a:t>
            </a:r>
            <a:r>
              <a:rPr sz="2250" spc="39">
                <a:latin typeface="Arial MT"/>
                <a:cs typeface="Arial MT"/>
              </a:rPr>
              <a:t>not</a:t>
            </a:r>
            <a:r>
              <a:rPr sz="2250" spc="18">
                <a:latin typeface="Arial MT"/>
                <a:cs typeface="Arial MT"/>
              </a:rPr>
              <a:t> </a:t>
            </a:r>
            <a:r>
              <a:rPr sz="2250" spc="-7">
                <a:latin typeface="Arial MT"/>
                <a:cs typeface="Arial MT"/>
              </a:rPr>
              <a:t>possess.</a:t>
            </a:r>
            <a:endParaRPr sz="2250">
              <a:latin typeface="Arial MT"/>
              <a:cs typeface="Arial MT"/>
            </a:endParaRPr>
          </a:p>
          <a:p>
            <a:pPr algn="just">
              <a:spcBef>
                <a:spcPts val="253"/>
              </a:spcBef>
              <a:buFont typeface="Arial MT"/>
              <a:buChar char="•"/>
            </a:pPr>
            <a:endParaRPr sz="2250">
              <a:latin typeface="Arial MT"/>
              <a:cs typeface="Arial MT"/>
            </a:endParaRPr>
          </a:p>
          <a:p>
            <a:pPr marL="347352" indent="-311635" algn="just">
              <a:buSzPct val="145312"/>
              <a:buChar char="•"/>
              <a:tabLst>
                <a:tab pos="347352" algn="l"/>
              </a:tabLst>
            </a:pPr>
            <a:r>
              <a:rPr sz="2250">
                <a:latin typeface="Arial MT"/>
                <a:cs typeface="Arial MT"/>
              </a:rPr>
              <a:t>Make</a:t>
            </a:r>
            <a:r>
              <a:rPr sz="2250" spc="18">
                <a:latin typeface="Arial MT"/>
                <a:cs typeface="Arial MT"/>
              </a:rPr>
              <a:t> </a:t>
            </a:r>
            <a:r>
              <a:rPr sz="2250" spc="39">
                <a:latin typeface="Arial MT"/>
                <a:cs typeface="Arial MT"/>
              </a:rPr>
              <a:t>it</a:t>
            </a:r>
            <a:r>
              <a:rPr sz="2250" spc="21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difficult</a:t>
            </a:r>
            <a:r>
              <a:rPr sz="2250" spc="21">
                <a:latin typeface="Arial MT"/>
                <a:cs typeface="Arial MT"/>
              </a:rPr>
              <a:t> </a:t>
            </a:r>
            <a:r>
              <a:rPr sz="2250" spc="53">
                <a:latin typeface="Arial MT"/>
                <a:cs typeface="Arial MT"/>
              </a:rPr>
              <a:t>to</a:t>
            </a:r>
            <a:r>
              <a:rPr sz="2250" spc="21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manage</a:t>
            </a:r>
            <a:r>
              <a:rPr sz="2250" spc="21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versions</a:t>
            </a:r>
            <a:r>
              <a:rPr sz="2250" spc="18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and</a:t>
            </a:r>
            <a:r>
              <a:rPr sz="2250" spc="21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hard</a:t>
            </a:r>
            <a:r>
              <a:rPr sz="2250" spc="21">
                <a:latin typeface="Arial MT"/>
                <a:cs typeface="Arial MT"/>
              </a:rPr>
              <a:t> </a:t>
            </a:r>
            <a:r>
              <a:rPr sz="2250" spc="53">
                <a:latin typeface="Arial MT"/>
                <a:cs typeface="Arial MT"/>
              </a:rPr>
              <a:t>to</a:t>
            </a:r>
            <a:r>
              <a:rPr sz="2250" spc="21">
                <a:latin typeface="Arial MT"/>
                <a:cs typeface="Arial MT"/>
              </a:rPr>
              <a:t> </a:t>
            </a:r>
            <a:r>
              <a:rPr sz="2250" spc="-7">
                <a:latin typeface="Arial MT"/>
                <a:cs typeface="Arial MT"/>
              </a:rPr>
              <a:t>debug.</a:t>
            </a:r>
            <a:endParaRPr sz="2250">
              <a:latin typeface="Arial MT"/>
              <a:cs typeface="Arial MT"/>
            </a:endParaRPr>
          </a:p>
          <a:p>
            <a:pPr algn="just">
              <a:spcBef>
                <a:spcPts val="436"/>
              </a:spcBef>
              <a:buFont typeface="Arial MT"/>
              <a:buChar char="•"/>
            </a:pPr>
            <a:endParaRPr sz="2250">
              <a:latin typeface="Arial MT"/>
              <a:cs typeface="Arial MT"/>
            </a:endParaRPr>
          </a:p>
          <a:p>
            <a:pPr marL="347352" marR="429056" indent="-311635" algn="just">
              <a:lnSpc>
                <a:spcPts val="2672"/>
              </a:lnSpc>
              <a:buSzPct val="145312"/>
              <a:buChar char="•"/>
              <a:tabLst>
                <a:tab pos="348245" algn="l"/>
              </a:tabLst>
            </a:pPr>
            <a:r>
              <a:rPr sz="2250">
                <a:latin typeface="Arial MT"/>
                <a:cs typeface="Arial MT"/>
              </a:rPr>
              <a:t>May</a:t>
            </a:r>
            <a:r>
              <a:rPr sz="2250" spc="53">
                <a:latin typeface="Arial MT"/>
                <a:cs typeface="Arial MT"/>
              </a:rPr>
              <a:t> </a:t>
            </a:r>
            <a:r>
              <a:rPr sz="2250" spc="39">
                <a:latin typeface="Arial MT"/>
                <a:cs typeface="Arial MT"/>
              </a:rPr>
              <a:t>not</a:t>
            </a:r>
            <a:r>
              <a:rPr sz="2250" spc="56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be</a:t>
            </a:r>
            <a:r>
              <a:rPr sz="2250" spc="56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portable</a:t>
            </a:r>
            <a:r>
              <a:rPr sz="2250" spc="56">
                <a:latin typeface="Arial MT"/>
                <a:cs typeface="Arial MT"/>
              </a:rPr>
              <a:t> </a:t>
            </a:r>
            <a:r>
              <a:rPr sz="2250" spc="53">
                <a:latin typeface="Arial MT"/>
                <a:cs typeface="Arial MT"/>
              </a:rPr>
              <a:t>to</a:t>
            </a:r>
            <a:r>
              <a:rPr sz="2250" spc="56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other</a:t>
            </a:r>
            <a:r>
              <a:rPr sz="2250" spc="53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database</a:t>
            </a:r>
            <a:r>
              <a:rPr sz="2250" spc="56">
                <a:latin typeface="Arial MT"/>
                <a:cs typeface="Arial MT"/>
              </a:rPr>
              <a:t> </a:t>
            </a:r>
            <a:r>
              <a:rPr sz="2250" spc="-7">
                <a:latin typeface="Arial MT"/>
                <a:cs typeface="Arial MT"/>
              </a:rPr>
              <a:t>management 	</a:t>
            </a:r>
            <a:r>
              <a:rPr sz="2250">
                <a:latin typeface="Arial MT"/>
                <a:cs typeface="Arial MT"/>
              </a:rPr>
              <a:t>systems</a:t>
            </a:r>
            <a:r>
              <a:rPr sz="2250" spc="4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e.g.,</a:t>
            </a:r>
            <a:r>
              <a:rPr sz="2250" spc="7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MySQL</a:t>
            </a:r>
            <a:r>
              <a:rPr sz="2250" spc="7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or</a:t>
            </a:r>
            <a:r>
              <a:rPr sz="2250" spc="7">
                <a:latin typeface="Arial MT"/>
                <a:cs typeface="Arial MT"/>
              </a:rPr>
              <a:t> </a:t>
            </a:r>
            <a:r>
              <a:rPr sz="2250" spc="35">
                <a:latin typeface="Arial MT"/>
                <a:cs typeface="Arial MT"/>
              </a:rPr>
              <a:t>Microsoft</a:t>
            </a:r>
            <a:r>
              <a:rPr sz="2250" spc="7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SQL</a:t>
            </a:r>
            <a:r>
              <a:rPr sz="2250" spc="4">
                <a:latin typeface="Arial MT"/>
                <a:cs typeface="Arial MT"/>
              </a:rPr>
              <a:t> </a:t>
            </a:r>
            <a:r>
              <a:rPr sz="2250" spc="-7">
                <a:latin typeface="Arial MT"/>
                <a:cs typeface="Arial MT"/>
              </a:rPr>
              <a:t>Server.</a:t>
            </a:r>
            <a:endParaRPr sz="2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3360" y="238119"/>
            <a:ext cx="7393781" cy="969255"/>
          </a:xfrm>
          <a:prstGeom prst="rect">
            <a:avLst/>
          </a:prstGeom>
        </p:spPr>
        <p:txBody>
          <a:bodyPr vert="horz" wrap="square" lIns="0" tIns="289321" rIns="0" bIns="0" rtlCol="0" anchor="ctr">
            <a:spAutoFit/>
          </a:bodyPr>
          <a:lstStyle/>
          <a:p>
            <a:pPr marL="774623">
              <a:lnSpc>
                <a:spcPct val="100000"/>
              </a:lnSpc>
              <a:spcBef>
                <a:spcPts val="70"/>
              </a:spcBef>
            </a:pPr>
            <a:r>
              <a:rPr spc="95"/>
              <a:t>Stored</a:t>
            </a:r>
            <a:r>
              <a:rPr spc="7"/>
              <a:t> </a:t>
            </a:r>
            <a:r>
              <a:rPr spc="84"/>
              <a:t>Procedures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11586" y="2973586"/>
            <a:ext cx="7477274" cy="2152232"/>
          </a:xfrm>
          <a:prstGeom prst="rect">
            <a:avLst/>
          </a:prstGeom>
        </p:spPr>
        <p:txBody>
          <a:bodyPr vert="horz" wrap="square" lIns="0" tIns="23217" rIns="0" bIns="0" rtlCol="0">
            <a:spAutoFit/>
          </a:bodyPr>
          <a:lstStyle/>
          <a:p>
            <a:pPr marL="329494" marR="752746" indent="-311635">
              <a:lnSpc>
                <a:spcPts val="2672"/>
              </a:lnSpc>
              <a:spcBef>
                <a:spcPts val="183"/>
              </a:spcBef>
              <a:buSzPct val="145312"/>
              <a:buChar char="•"/>
              <a:tabLst>
                <a:tab pos="330387" algn="l"/>
              </a:tabLst>
            </a:pPr>
            <a:r>
              <a:rPr sz="2250">
                <a:latin typeface="Arial MT"/>
                <a:cs typeface="Arial MT"/>
              </a:rPr>
              <a:t>By</a:t>
            </a:r>
            <a:r>
              <a:rPr sz="2250" spc="28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default,</a:t>
            </a:r>
            <a:r>
              <a:rPr sz="2250" spc="28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PostgreSQL</a:t>
            </a:r>
            <a:r>
              <a:rPr sz="2250" spc="28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supports</a:t>
            </a:r>
            <a:r>
              <a:rPr sz="2250" spc="32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three</a:t>
            </a:r>
            <a:r>
              <a:rPr sz="2250" spc="28">
                <a:latin typeface="Arial MT"/>
                <a:cs typeface="Arial MT"/>
              </a:rPr>
              <a:t> </a:t>
            </a:r>
            <a:r>
              <a:rPr sz="2250" spc="-7">
                <a:latin typeface="Arial MT"/>
                <a:cs typeface="Arial MT"/>
              </a:rPr>
              <a:t>procedural 	</a:t>
            </a:r>
            <a:r>
              <a:rPr sz="2250">
                <a:latin typeface="Arial MT"/>
                <a:cs typeface="Arial MT"/>
              </a:rPr>
              <a:t>languages:</a:t>
            </a:r>
            <a:r>
              <a:rPr sz="2250" spc="-18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SQL,</a:t>
            </a:r>
            <a:r>
              <a:rPr sz="2250" spc="-18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PL/pgSQL,</a:t>
            </a:r>
            <a:r>
              <a:rPr sz="2250" spc="-14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and</a:t>
            </a:r>
            <a:r>
              <a:rPr sz="2250" spc="-18">
                <a:latin typeface="Arial MT"/>
                <a:cs typeface="Arial MT"/>
              </a:rPr>
              <a:t> C.</a:t>
            </a:r>
            <a:endParaRPr sz="2250">
              <a:latin typeface="Arial MT"/>
              <a:cs typeface="Arial MT"/>
            </a:endParaRPr>
          </a:p>
          <a:p>
            <a:pPr>
              <a:spcBef>
                <a:spcPts val="352"/>
              </a:spcBef>
              <a:buFont typeface="Arial MT"/>
              <a:buChar char="•"/>
            </a:pPr>
            <a:endParaRPr sz="2250">
              <a:latin typeface="Arial MT"/>
              <a:cs typeface="Arial MT"/>
            </a:endParaRPr>
          </a:p>
          <a:p>
            <a:pPr marL="329494" marR="12501" indent="-311635" algn="just">
              <a:lnSpc>
                <a:spcPts val="2672"/>
              </a:lnSpc>
              <a:buSzPct val="145312"/>
              <a:buChar char="•"/>
              <a:tabLst>
                <a:tab pos="330387" algn="l"/>
              </a:tabLst>
            </a:pPr>
            <a:r>
              <a:rPr sz="2250" spc="-63">
                <a:latin typeface="Arial MT"/>
                <a:cs typeface="Arial MT"/>
              </a:rPr>
              <a:t>You</a:t>
            </a:r>
            <a:r>
              <a:rPr sz="2250" spc="11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can</a:t>
            </a:r>
            <a:r>
              <a:rPr sz="2250" spc="14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also</a:t>
            </a:r>
            <a:r>
              <a:rPr sz="2250" spc="14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load</a:t>
            </a:r>
            <a:r>
              <a:rPr sz="2250" spc="14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other</a:t>
            </a:r>
            <a:r>
              <a:rPr sz="2250" spc="14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procedural</a:t>
            </a:r>
            <a:r>
              <a:rPr sz="2250" spc="14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languages</a:t>
            </a:r>
            <a:r>
              <a:rPr sz="2250" spc="14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e.g.,</a:t>
            </a:r>
            <a:r>
              <a:rPr sz="2250" spc="14">
                <a:latin typeface="Arial MT"/>
                <a:cs typeface="Arial MT"/>
              </a:rPr>
              <a:t> </a:t>
            </a:r>
            <a:r>
              <a:rPr sz="2250" spc="-7">
                <a:latin typeface="Arial MT"/>
                <a:cs typeface="Arial MT"/>
              </a:rPr>
              <a:t>Perl, 	</a:t>
            </a:r>
            <a:r>
              <a:rPr sz="2250">
                <a:latin typeface="Arial MT"/>
                <a:cs typeface="Arial MT"/>
              </a:rPr>
              <a:t>Python,</a:t>
            </a:r>
            <a:r>
              <a:rPr sz="2250" spc="-32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JS,</a:t>
            </a:r>
            <a:r>
              <a:rPr sz="2250" spc="-28">
                <a:latin typeface="Arial MT"/>
                <a:cs typeface="Arial MT"/>
              </a:rPr>
              <a:t> </a:t>
            </a:r>
            <a:r>
              <a:rPr sz="2250" spc="-7">
                <a:latin typeface="Arial MT"/>
                <a:cs typeface="Arial MT"/>
              </a:rPr>
              <a:t>Ruby,</a:t>
            </a:r>
            <a:r>
              <a:rPr sz="2250" spc="-28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Java</a:t>
            </a:r>
            <a:r>
              <a:rPr sz="2250" spc="-28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and</a:t>
            </a:r>
            <a:r>
              <a:rPr sz="2250" spc="-28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TCL</a:t>
            </a:r>
            <a:r>
              <a:rPr sz="2250" spc="-28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into</a:t>
            </a:r>
            <a:r>
              <a:rPr sz="2250" spc="-28">
                <a:latin typeface="Arial MT"/>
                <a:cs typeface="Arial MT"/>
              </a:rPr>
              <a:t> </a:t>
            </a:r>
            <a:r>
              <a:rPr sz="2250">
                <a:latin typeface="Arial MT"/>
                <a:cs typeface="Arial MT"/>
              </a:rPr>
              <a:t>PostgreSQL</a:t>
            </a:r>
            <a:r>
              <a:rPr sz="2250" spc="-28">
                <a:latin typeface="Arial MT"/>
                <a:cs typeface="Arial MT"/>
              </a:rPr>
              <a:t> </a:t>
            </a:r>
            <a:r>
              <a:rPr sz="2250" spc="-7">
                <a:latin typeface="Arial MT"/>
                <a:cs typeface="Arial MT"/>
              </a:rPr>
              <a:t>using 	extensions.</a:t>
            </a:r>
            <a:endParaRPr sz="2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9D2CA-E62E-9ECB-D94C-FD1FFA491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>
                <a:solidFill>
                  <a:schemeClr val="bg1"/>
                </a:solidFill>
                <a:latin typeface="Arial Nova"/>
              </a:rPr>
              <a:t>Key Characteristics 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ECFC137-C406-1732-65CC-C905447F6B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0711615"/>
              </p:ext>
            </p:extLst>
          </p:nvPr>
        </p:nvGraphicFramePr>
        <p:xfrm>
          <a:off x="641131" y="1260694"/>
          <a:ext cx="10911068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7" name="Title 1">
            <a:extLst>
              <a:ext uri="{FF2B5EF4-FFF2-40B4-BE49-F238E27FC236}">
                <a16:creationId xmlns:a16="http://schemas.microsoft.com/office/drawing/2014/main" id="{3D4200FD-8674-2648-6A96-03A846FDD8A7}"/>
              </a:ext>
            </a:extLst>
          </p:cNvPr>
          <p:cNvSpPr txBox="1">
            <a:spLocks/>
          </p:cNvSpPr>
          <p:nvPr/>
        </p:nvSpPr>
        <p:spPr>
          <a:xfrm>
            <a:off x="1156851" y="637762"/>
            <a:ext cx="9888496" cy="9001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>
                <a:solidFill>
                  <a:schemeClr val="bg1"/>
                </a:solidFill>
                <a:latin typeface="Arial Nova"/>
              </a:rPr>
              <a:t>Key Characteristics </a:t>
            </a:r>
          </a:p>
        </p:txBody>
      </p:sp>
    </p:spTree>
    <p:extLst>
      <p:ext uri="{BB962C8B-B14F-4D97-AF65-F5344CB8AC3E}">
        <p14:creationId xmlns:p14="http://schemas.microsoft.com/office/powerpoint/2010/main" val="2911080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9D2CA-E62E-9ECB-D94C-FD1FFA491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b="1">
                <a:latin typeface="Arial Nova"/>
              </a:rPr>
              <a:t>Key Characteristics </a:t>
            </a:r>
          </a:p>
        </p:txBody>
      </p:sp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132C62E8-42B9-4C5E-8B93-25C1E2F3B7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3882502"/>
              </p:ext>
            </p:extLst>
          </p:nvPr>
        </p:nvGraphicFramePr>
        <p:xfrm>
          <a:off x="1155548" y="1987305"/>
          <a:ext cx="9880893" cy="39596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08652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F0D01-3E7E-9012-1059-215F18FEC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2844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PL/</a:t>
            </a:r>
            <a:r>
              <a:rPr lang="en-US" sz="5200" b="1" kern="120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pgSQL</a:t>
            </a:r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Overview</a:t>
            </a:r>
            <a:endParaRPr lang="en-US" sz="5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D93FE-C7D9-5C24-A95E-F5345A51B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8626"/>
            <a:ext cx="5158427" cy="3730460"/>
          </a:xfrm>
        </p:spPr>
        <p:txBody>
          <a:bodyPr vert="horz" lIns="91440" tIns="45720" rIns="91440" bIns="45720" rtlCol="0">
            <a:noAutofit/>
          </a:bodyPr>
          <a:lstStyle/>
          <a:p>
            <a:endParaRPr lang="en-US" sz="2400" b="1"/>
          </a:p>
          <a:p>
            <a:pPr algn="just"/>
            <a:r>
              <a:rPr lang="en-US" sz="2400"/>
              <a:t>PL/</a:t>
            </a:r>
            <a:r>
              <a:rPr lang="en-US" sz="2400" err="1"/>
              <a:t>pgSQL</a:t>
            </a:r>
            <a:r>
              <a:rPr lang="en-US" sz="2400"/>
              <a:t> (Procedural Language/PostgreSQL) is a procedural extension for PostgreSQL that allows users to write functions, procedures, and triggers with control-flow constructs like loops, conditionals, and error handling. It enhances standard SQL by adding procedural logic for more complex database operations.</a:t>
            </a:r>
          </a:p>
          <a:p>
            <a:endParaRPr lang="en-US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8CB634-7FC6-49FF-C70C-ED111E2A18D9}"/>
              </a:ext>
            </a:extLst>
          </p:cNvPr>
          <p:cNvSpPr txBox="1"/>
          <p:nvPr/>
        </p:nvSpPr>
        <p:spPr>
          <a:xfrm>
            <a:off x="6464808" y="2496312"/>
            <a:ext cx="4824983" cy="337674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Autofit/>
          </a:bodyPr>
          <a:lstStyle/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Key Features of PL/</a:t>
            </a:r>
            <a:r>
              <a:rPr lang="en-US" sz="2000" b="1" err="1"/>
              <a:t>pgSQL</a:t>
            </a:r>
            <a:endParaRPr lang="en-US" sz="2000"/>
          </a:p>
          <a:p>
            <a:pPr lvl="1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Control Structures</a:t>
            </a:r>
            <a:r>
              <a:rPr lang="en-US" sz="2000"/>
              <a:t>: Supports IF, CASE, LOOP, WHILE, and FOR.</a:t>
            </a:r>
          </a:p>
          <a:p>
            <a:pPr lvl="1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Error Handling</a:t>
            </a:r>
            <a:r>
              <a:rPr lang="en-US" sz="2000"/>
              <a:t>: Provides EXCEPTION blocks to manage runtime errors.</a:t>
            </a:r>
          </a:p>
          <a:p>
            <a:pPr lvl="1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Dynamic SQL</a:t>
            </a:r>
            <a:r>
              <a:rPr lang="en-US" sz="2000"/>
              <a:t>: Allows execution of dynamically constructed queries.</a:t>
            </a:r>
          </a:p>
          <a:p>
            <a:pPr lvl="1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Variables and Parameters</a:t>
            </a:r>
            <a:r>
              <a:rPr lang="en-US" sz="2000"/>
              <a:t>: Enables declaration and manipulation of variables.</a:t>
            </a:r>
          </a:p>
          <a:p>
            <a:pPr lvl="1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Integration</a:t>
            </a:r>
            <a:r>
              <a:rPr lang="en-US" sz="2000"/>
              <a:t>: Works seamlessly with PostgreSQL's SQL capabilities.</a:t>
            </a:r>
          </a:p>
        </p:txBody>
      </p:sp>
    </p:spTree>
    <p:extLst>
      <p:ext uri="{BB962C8B-B14F-4D97-AF65-F5344CB8AC3E}">
        <p14:creationId xmlns:p14="http://schemas.microsoft.com/office/powerpoint/2010/main" val="27418301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CF6D6-5EA7-AE6A-0D8C-0662488FE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26" y="271180"/>
            <a:ext cx="10515600" cy="1325563"/>
          </a:xfrm>
        </p:spPr>
        <p:txBody>
          <a:bodyPr/>
          <a:lstStyle/>
          <a:p>
            <a:r>
              <a:rPr lang="en-US" b="1">
                <a:ea typeface="+mj-lt"/>
                <a:cs typeface="+mj-lt"/>
              </a:rPr>
              <a:t>PL/</a:t>
            </a:r>
            <a:r>
              <a:rPr lang="en-US" b="1" err="1">
                <a:ea typeface="+mj-lt"/>
                <a:cs typeface="+mj-lt"/>
              </a:rPr>
              <a:t>pgSQL</a:t>
            </a:r>
            <a:r>
              <a:rPr lang="en-US" b="1">
                <a:ea typeface="+mj-lt"/>
                <a:cs typeface="+mj-lt"/>
              </a:rPr>
              <a:t> Basics</a:t>
            </a:r>
            <a:endParaRPr lang="en-US" b="1"/>
          </a:p>
        </p:txBody>
      </p:sp>
      <p:pic>
        <p:nvPicPr>
          <p:cNvPr id="4" name="Content Placeholder 3" descr="A close up of a text&#10;&#10;Description automatically generated">
            <a:extLst>
              <a:ext uri="{FF2B5EF4-FFF2-40B4-BE49-F238E27FC236}">
                <a16:creationId xmlns:a16="http://schemas.microsoft.com/office/drawing/2014/main" id="{B6456DD6-04EB-A5F5-7D4A-F62480B347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9477" y="1596743"/>
            <a:ext cx="5076511" cy="1335924"/>
          </a:xfrm>
        </p:spPr>
      </p:pic>
      <p:pic>
        <p:nvPicPr>
          <p:cNvPr id="5" name="Picture 4" descr="A text on a white background&#10;&#10;Description automatically generated">
            <a:extLst>
              <a:ext uri="{FF2B5EF4-FFF2-40B4-BE49-F238E27FC236}">
                <a16:creationId xmlns:a16="http://schemas.microsoft.com/office/drawing/2014/main" id="{AE5094B8-C8B6-09F3-5FF1-002D67C51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656" y="4666855"/>
            <a:ext cx="4680918" cy="1188804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DC19B18F-6E3B-FCA8-E136-A9A910DEDE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8018" y="1658978"/>
            <a:ext cx="4789424" cy="1574424"/>
          </a:xfrm>
          <a:prstGeom prst="rect">
            <a:avLst/>
          </a:prstGeom>
        </p:spPr>
      </p:pic>
      <p:pic>
        <p:nvPicPr>
          <p:cNvPr id="7" name="Picture 6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46348746-11F6-FF19-0113-BDC7618035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2117" y="4491759"/>
            <a:ext cx="6559100" cy="21539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EB6F3E8-F4FB-71A0-7868-0A4061F3D41E}"/>
              </a:ext>
            </a:extLst>
          </p:cNvPr>
          <p:cNvSpPr txBox="1"/>
          <p:nvPr/>
        </p:nvSpPr>
        <p:spPr>
          <a:xfrm>
            <a:off x="556169" y="6085974"/>
            <a:ext cx="389834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Declaring Variables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2BD84C-9F55-2DD5-D9AD-3AD4D793073D}"/>
              </a:ext>
            </a:extLst>
          </p:cNvPr>
          <p:cNvSpPr txBox="1"/>
          <p:nvPr/>
        </p:nvSpPr>
        <p:spPr>
          <a:xfrm>
            <a:off x="7240858" y="995572"/>
            <a:ext cx="389834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Control Structures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DD7611-6067-611A-C654-780CE591498E}"/>
              </a:ext>
            </a:extLst>
          </p:cNvPr>
          <p:cNvSpPr txBox="1"/>
          <p:nvPr/>
        </p:nvSpPr>
        <p:spPr>
          <a:xfrm>
            <a:off x="5596711" y="3932058"/>
            <a:ext cx="389834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Error Handling with EXCEPTION Blocks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1DD165-DEDD-FA20-EA01-CDFF403B957C}"/>
              </a:ext>
            </a:extLst>
          </p:cNvPr>
          <p:cNvSpPr txBox="1"/>
          <p:nvPr/>
        </p:nvSpPr>
        <p:spPr>
          <a:xfrm>
            <a:off x="558884" y="3084936"/>
            <a:ext cx="389834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Declaring PL/</a:t>
            </a:r>
            <a:r>
              <a:rPr lang="en-US" sz="1600" err="1">
                <a:ea typeface="+mn-lt"/>
                <a:cs typeface="+mn-lt"/>
              </a:rPr>
              <a:t>pgSQL</a:t>
            </a:r>
            <a:r>
              <a:rPr lang="en-US" sz="1600">
                <a:ea typeface="+mn-lt"/>
                <a:cs typeface="+mn-lt"/>
              </a:rPr>
              <a:t> Code Blocks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934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70C34-B280-C28E-2668-8B5A376B8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7" y="649674"/>
            <a:ext cx="4284420" cy="1687143"/>
          </a:xfrm>
        </p:spPr>
        <p:txBody>
          <a:bodyPr anchor="t">
            <a:normAutofit/>
          </a:bodyPr>
          <a:lstStyle/>
          <a:p>
            <a:r>
              <a:rPr lang="en-US" sz="4000" b="1">
                <a:latin typeface="Arial Nova"/>
                <a:ea typeface="+mj-lt"/>
                <a:cs typeface="+mj-lt"/>
              </a:rPr>
              <a:t>Basic Syntax</a:t>
            </a:r>
            <a:endParaRPr lang="en-US" sz="4000" b="1">
              <a:latin typeface="Arial Nova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5B87787-221A-54FA-A3AE-AFBD124B3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2022" y="849338"/>
            <a:ext cx="4293299" cy="14874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b="1">
                <a:latin typeface="Arial Nova"/>
                <a:ea typeface="+mn-lt"/>
                <a:cs typeface="+mn-lt"/>
              </a:rPr>
              <a:t>LANGUAGE </a:t>
            </a:r>
            <a:r>
              <a:rPr lang="en-US" sz="1600" b="1" err="1">
                <a:latin typeface="Arial Nova"/>
                <a:ea typeface="+mn-lt"/>
                <a:cs typeface="+mn-lt"/>
              </a:rPr>
              <a:t>plpgsql</a:t>
            </a:r>
            <a:r>
              <a:rPr lang="en-US" sz="1600" b="1">
                <a:latin typeface="Arial Nova"/>
                <a:ea typeface="+mn-lt"/>
                <a:cs typeface="+mn-lt"/>
              </a:rPr>
              <a:t>:</a:t>
            </a:r>
            <a:r>
              <a:rPr lang="en-US" sz="1600">
                <a:latin typeface="Arial Nova"/>
                <a:ea typeface="+mn-lt"/>
                <a:cs typeface="+mn-lt"/>
              </a:rPr>
              <a:t> Specifies the procedural language for the procedure.</a:t>
            </a:r>
          </a:p>
          <a:p>
            <a:endParaRPr lang="en-US" sz="1600">
              <a:latin typeface="Arial Nova"/>
            </a:endParaRPr>
          </a:p>
          <a:p>
            <a:r>
              <a:rPr lang="en-US" sz="1600" b="1">
                <a:latin typeface="Arial Nova"/>
                <a:ea typeface="+mn-lt"/>
                <a:cs typeface="+mn-lt"/>
              </a:rPr>
              <a:t>$$:</a:t>
            </a:r>
            <a:r>
              <a:rPr lang="en-US" sz="1600">
                <a:latin typeface="Arial Nova"/>
                <a:ea typeface="+mn-lt"/>
                <a:cs typeface="+mn-lt"/>
              </a:rPr>
              <a:t> Delimiters for the procedure body.</a:t>
            </a:r>
            <a:endParaRPr lang="en-US" sz="1600">
              <a:latin typeface="Arial Nova"/>
            </a:endParaRPr>
          </a:p>
        </p:txBody>
      </p:sp>
      <p:pic>
        <p:nvPicPr>
          <p:cNvPr id="8" name="Picture 7" descr="A white background with purple text&#10;&#10;Description automatically generated">
            <a:extLst>
              <a:ext uri="{FF2B5EF4-FFF2-40B4-BE49-F238E27FC236}">
                <a16:creationId xmlns:a16="http://schemas.microsoft.com/office/drawing/2014/main" id="{4A53FC04-722B-13D4-119A-57D762A24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62" y="2491408"/>
            <a:ext cx="9636808" cy="336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604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70C34-B280-C28E-2668-8B5A376B8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7" y="649674"/>
            <a:ext cx="4284420" cy="1687143"/>
          </a:xfrm>
        </p:spPr>
        <p:txBody>
          <a:bodyPr anchor="t">
            <a:normAutofit/>
          </a:bodyPr>
          <a:lstStyle/>
          <a:p>
            <a:r>
              <a:rPr lang="en-US" sz="4000" b="1">
                <a:latin typeface="Arial Nova"/>
                <a:ea typeface="+mj-lt"/>
                <a:cs typeface="+mj-lt"/>
              </a:rPr>
              <a:t>Basic</a:t>
            </a:r>
            <a:r>
              <a:rPr lang="en-US" b="1">
                <a:latin typeface="Arial Nova"/>
                <a:ea typeface="+mj-lt"/>
                <a:cs typeface="+mj-lt"/>
              </a:rPr>
              <a:t> Syntax</a:t>
            </a:r>
            <a:endParaRPr lang="en-US" b="1">
              <a:latin typeface="Arial Nova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5B87787-221A-54FA-A3AE-AFBD124B3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2022" y="849338"/>
            <a:ext cx="4293299" cy="14874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>
                <a:latin typeface="Arial Nova"/>
              </a:rPr>
              <a:t>In declare you will describe all variables </a:t>
            </a:r>
          </a:p>
        </p:txBody>
      </p:sp>
      <p:pic>
        <p:nvPicPr>
          <p:cNvPr id="3" name="Picture 2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5A491062-AC8B-F1F9-6334-E4638F182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861" y="1921483"/>
            <a:ext cx="8453925" cy="428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018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819C0-FBDE-AD5D-579A-E529E1917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b="1">
                <a:latin typeface="Arial Nova"/>
              </a:rPr>
              <a:t>Parameters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6E658-1A5F-D7DB-B867-2673A2C4C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just">
              <a:buNone/>
            </a:pPr>
            <a:r>
              <a:rPr lang="en-US" sz="2400">
                <a:latin typeface="Arial Nova"/>
                <a:ea typeface="+mn-lt"/>
                <a:cs typeface="+mn-lt"/>
              </a:rPr>
              <a:t>Parameters in stored procedures allow passing data in and out of the procedure, enabling dynamic behavior. PostgreSQL supports three types of parameters:</a:t>
            </a:r>
            <a:endParaRPr lang="en-US" sz="2400">
              <a:latin typeface="Arial Nova"/>
            </a:endParaRPr>
          </a:p>
          <a:p>
            <a:pPr marL="0" indent="0">
              <a:buNone/>
            </a:pPr>
            <a:endParaRPr lang="en-US" sz="2400">
              <a:latin typeface="Arial Nova"/>
              <a:ea typeface="+mn-lt"/>
              <a:cs typeface="+mn-lt"/>
            </a:endParaRPr>
          </a:p>
          <a:p>
            <a:r>
              <a:rPr lang="en-US" sz="2400" b="1">
                <a:latin typeface="Arial Nova"/>
                <a:ea typeface="+mn-lt"/>
                <a:cs typeface="+mn-lt"/>
              </a:rPr>
              <a:t>IN</a:t>
            </a:r>
            <a:r>
              <a:rPr lang="en-US" sz="2400">
                <a:latin typeface="Arial Nova"/>
                <a:ea typeface="+mn-lt"/>
                <a:cs typeface="+mn-lt"/>
              </a:rPr>
              <a:t>: Used to pass values </a:t>
            </a:r>
            <a:r>
              <a:rPr lang="en-US" sz="2400" i="1">
                <a:latin typeface="Arial Nova"/>
                <a:ea typeface="+mn-lt"/>
                <a:cs typeface="+mn-lt"/>
              </a:rPr>
              <a:t>into</a:t>
            </a:r>
            <a:r>
              <a:rPr lang="en-US" sz="2400">
                <a:latin typeface="Arial Nova"/>
                <a:ea typeface="+mn-lt"/>
                <a:cs typeface="+mn-lt"/>
              </a:rPr>
              <a:t> the procedure.</a:t>
            </a:r>
            <a:endParaRPr lang="en-US" sz="2400">
              <a:latin typeface="Arial Nova"/>
            </a:endParaRPr>
          </a:p>
          <a:p>
            <a:r>
              <a:rPr lang="en-US" sz="2400" b="1">
                <a:latin typeface="Arial Nova"/>
                <a:ea typeface="+mn-lt"/>
                <a:cs typeface="+mn-lt"/>
              </a:rPr>
              <a:t>OUT</a:t>
            </a:r>
            <a:r>
              <a:rPr lang="en-US" sz="2400">
                <a:latin typeface="Arial Nova"/>
                <a:ea typeface="+mn-lt"/>
                <a:cs typeface="+mn-lt"/>
              </a:rPr>
              <a:t>: Used to return values </a:t>
            </a:r>
            <a:r>
              <a:rPr lang="en-US" sz="2400" i="1">
                <a:latin typeface="Arial Nova"/>
                <a:ea typeface="+mn-lt"/>
                <a:cs typeface="+mn-lt"/>
              </a:rPr>
              <a:t>from</a:t>
            </a:r>
            <a:r>
              <a:rPr lang="en-US" sz="2400">
                <a:latin typeface="Arial Nova"/>
                <a:ea typeface="+mn-lt"/>
                <a:cs typeface="+mn-lt"/>
              </a:rPr>
              <a:t> the procedure.</a:t>
            </a:r>
            <a:endParaRPr lang="en-US" sz="2400">
              <a:latin typeface="Arial Nova"/>
            </a:endParaRPr>
          </a:p>
          <a:p>
            <a:r>
              <a:rPr lang="en-US" sz="2400" b="1">
                <a:latin typeface="Arial Nova"/>
                <a:ea typeface="+mn-lt"/>
                <a:cs typeface="+mn-lt"/>
              </a:rPr>
              <a:t>INOUT</a:t>
            </a:r>
            <a:r>
              <a:rPr lang="en-US" sz="2400">
                <a:latin typeface="Arial Nova"/>
                <a:ea typeface="+mn-lt"/>
                <a:cs typeface="+mn-lt"/>
              </a:rPr>
              <a:t>: Used to pass a value in and return a value out.</a:t>
            </a:r>
            <a:endParaRPr lang="en-US" sz="2400">
              <a:latin typeface="Arial Nova"/>
            </a:endParaRPr>
          </a:p>
          <a:p>
            <a:endParaRPr lang="en-US" sz="2400">
              <a:latin typeface="Arial Nova"/>
            </a:endParaRPr>
          </a:p>
        </p:txBody>
      </p:sp>
    </p:spTree>
    <p:extLst>
      <p:ext uri="{BB962C8B-B14F-4D97-AF65-F5344CB8AC3E}">
        <p14:creationId xmlns:p14="http://schemas.microsoft.com/office/powerpoint/2010/main" val="2036974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819C0-FBDE-AD5D-579A-E529E1917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b="1">
                <a:latin typeface="Arial Nova"/>
              </a:rPr>
              <a:t>Parameters </a:t>
            </a:r>
          </a:p>
        </p:txBody>
      </p:sp>
      <p:pic>
        <p:nvPicPr>
          <p:cNvPr id="9" name="Content Placeholder 8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A7435585-C48C-F858-82EE-A9E2E5AE5C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9105" y="1281861"/>
            <a:ext cx="9053789" cy="5099752"/>
          </a:xfrm>
        </p:spPr>
      </p:pic>
    </p:spTree>
    <p:extLst>
      <p:ext uri="{BB962C8B-B14F-4D97-AF65-F5344CB8AC3E}">
        <p14:creationId xmlns:p14="http://schemas.microsoft.com/office/powerpoint/2010/main" val="17151165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6FB076-CCBB-7200-8AA8-935933FA2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>
                <a:latin typeface="Arial Nova"/>
                <a:ea typeface="+mn-lt"/>
                <a:cs typeface="+mn-lt"/>
              </a:rPr>
              <a:t>IN Parameters Example</a:t>
            </a:r>
            <a:br>
              <a:rPr lang="en-US" sz="4400" b="1">
                <a:latin typeface="Arial Nova"/>
              </a:rPr>
            </a:br>
            <a:endParaRPr lang="ru-KZ" b="1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91B4AD-83FE-A5A9-511A-20A53C635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KZ"/>
          </a:p>
        </p:txBody>
      </p:sp>
      <p:pic>
        <p:nvPicPr>
          <p:cNvPr id="11" name="Picture 10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5BE6A8E4-DAB9-E93B-6622-65AF4CA95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49553"/>
            <a:ext cx="7918704" cy="514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3509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09C3B3-367C-67F5-29AE-403B976A3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>
                <a:ea typeface="+mn-lt"/>
                <a:cs typeface="+mn-lt"/>
              </a:rPr>
              <a:t>OUT Parameters Example</a:t>
            </a:r>
            <a:br>
              <a:rPr lang="en-US" b="1">
                <a:ea typeface="+mn-lt"/>
                <a:cs typeface="+mn-lt"/>
              </a:rPr>
            </a:br>
            <a:endParaRPr lang="ru-KZ" b="1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41C829-5422-9C4C-6BB0-5F9B2AA78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KZ"/>
          </a:p>
        </p:txBody>
      </p:sp>
      <p:pic>
        <p:nvPicPr>
          <p:cNvPr id="4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4962943F-26DF-9D12-18E4-8D5186CCE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32904"/>
            <a:ext cx="7850318" cy="559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907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819C0-FBDE-AD5D-579A-E529E1917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b="1">
                <a:ea typeface="+mn-lt"/>
                <a:cs typeface="+mn-lt"/>
              </a:rPr>
              <a:t>INOUT Parameters Example</a:t>
            </a:r>
            <a:endParaRPr lang="en-US" sz="1600" b="1">
              <a:ea typeface="+mn-lt"/>
              <a:cs typeface="+mn-lt"/>
            </a:endParaRPr>
          </a:p>
        </p:txBody>
      </p:sp>
      <p:pic>
        <p:nvPicPr>
          <p:cNvPr id="7" name="Picture 6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4B12CCE1-2DEB-5E13-F484-BDEBD9B1F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328" y="1333499"/>
            <a:ext cx="7061112" cy="554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0533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819C0-FBDE-AD5D-579A-E529E1917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454" y="397680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b="1">
                <a:ea typeface="+mj-lt"/>
                <a:cs typeface="+mj-lt"/>
              </a:rPr>
              <a:t>Functions</a:t>
            </a:r>
            <a:endParaRPr lang="en-US" b="1">
              <a:ea typeface="+mj-lt"/>
              <a:cs typeface="+mj-lt"/>
            </a:endParaRPr>
          </a:p>
        </p:txBody>
      </p:sp>
      <p:pic>
        <p:nvPicPr>
          <p:cNvPr id="5" name="Content Placeholder 4" descr="A close-up of a computer code&#10;&#10;Description automatically generated">
            <a:extLst>
              <a:ext uri="{FF2B5EF4-FFF2-40B4-BE49-F238E27FC236}">
                <a16:creationId xmlns:a16="http://schemas.microsoft.com/office/drawing/2014/main" id="{91D4D391-96FE-0B0A-D85C-F3087F88DA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9880" y="1379750"/>
            <a:ext cx="5430628" cy="1308585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AE2D78E-7F29-17D9-DECC-AD0B87B0A0D6}"/>
              </a:ext>
            </a:extLst>
          </p:cNvPr>
          <p:cNvSpPr txBox="1"/>
          <p:nvPr/>
        </p:nvSpPr>
        <p:spPr>
          <a:xfrm>
            <a:off x="693772" y="6196294"/>
            <a:ext cx="389834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Basic Example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83781B-E668-637B-CAA2-77305A393D04}"/>
              </a:ext>
            </a:extLst>
          </p:cNvPr>
          <p:cNvSpPr txBox="1"/>
          <p:nvPr/>
        </p:nvSpPr>
        <p:spPr>
          <a:xfrm>
            <a:off x="693772" y="2964493"/>
            <a:ext cx="389834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latin typeface="Arial Nova"/>
                <a:ea typeface="+mn-lt"/>
                <a:cs typeface="+mn-lt"/>
              </a:rPr>
              <a:t>Syntax</a:t>
            </a:r>
            <a:endParaRPr lang="en-US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97AC3DE4-164E-390A-B64B-11769B437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772" y="3303047"/>
            <a:ext cx="4278861" cy="28049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E218171-8190-1043-B9EE-1B57BAD5B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8552" y="930883"/>
            <a:ext cx="6677439" cy="351490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AADE57D-41A9-AA2B-BF86-BF53EA19435C}"/>
              </a:ext>
            </a:extLst>
          </p:cNvPr>
          <p:cNvSpPr txBox="1"/>
          <p:nvPr/>
        </p:nvSpPr>
        <p:spPr>
          <a:xfrm>
            <a:off x="6100840" y="4728575"/>
            <a:ext cx="389834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Function with Multiple Parameters</a:t>
            </a:r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176F0A-94FB-7ED7-0B56-41E1F778080C}"/>
              </a:ext>
            </a:extLst>
          </p:cNvPr>
          <p:cNvSpPr txBox="1"/>
          <p:nvPr/>
        </p:nvSpPr>
        <p:spPr>
          <a:xfrm>
            <a:off x="6257414" y="302712"/>
            <a:ext cx="5359716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Functions allow you to encapsulate logic, perform calculations, and return results. They can accept parameters, return values or tables, and handle errors using PL/</a:t>
            </a:r>
            <a:r>
              <a:rPr lang="en-US" sz="1600" err="1">
                <a:solidFill>
                  <a:schemeClr val="bg1"/>
                </a:solidFill>
                <a:ea typeface="+mn-lt"/>
                <a:cs typeface="+mn-lt"/>
              </a:rPr>
              <a:t>pgSQL</a:t>
            </a: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 or SQL.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66693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6090C-E48A-CFC1-C8C8-9B3B717DC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157" y="199473"/>
            <a:ext cx="10515600" cy="1325563"/>
          </a:xfrm>
        </p:spPr>
        <p:txBody>
          <a:bodyPr/>
          <a:lstStyle/>
          <a:p>
            <a:r>
              <a:rPr lang="en-US" sz="4000">
                <a:latin typeface="Arial Nova"/>
                <a:ea typeface="+mj-lt"/>
                <a:cs typeface="+mj-lt"/>
              </a:rPr>
              <a:t>Stored</a:t>
            </a:r>
            <a:r>
              <a:rPr lang="en-US">
                <a:latin typeface="Arial Nova"/>
                <a:ea typeface="+mj-lt"/>
                <a:cs typeface="+mj-lt"/>
              </a:rPr>
              <a:t> Procedures vs. Functions</a:t>
            </a:r>
            <a:endParaRPr lang="en-US">
              <a:latin typeface="Arial Nova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8BBFA5-1D98-9082-F9AF-86F11B25E3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909369"/>
              </p:ext>
            </p:extLst>
          </p:nvPr>
        </p:nvGraphicFramePr>
        <p:xfrm>
          <a:off x="575094" y="1408980"/>
          <a:ext cx="11039304" cy="5299862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679768">
                  <a:extLst>
                    <a:ext uri="{9D8B030D-6E8A-4147-A177-3AD203B41FA5}">
                      <a16:colId xmlns:a16="http://schemas.microsoft.com/office/drawing/2014/main" val="757224732"/>
                    </a:ext>
                  </a:extLst>
                </a:gridCol>
                <a:gridCol w="3679768">
                  <a:extLst>
                    <a:ext uri="{9D8B030D-6E8A-4147-A177-3AD203B41FA5}">
                      <a16:colId xmlns:a16="http://schemas.microsoft.com/office/drawing/2014/main" val="3000438378"/>
                    </a:ext>
                  </a:extLst>
                </a:gridCol>
                <a:gridCol w="3679768">
                  <a:extLst>
                    <a:ext uri="{9D8B030D-6E8A-4147-A177-3AD203B41FA5}">
                      <a16:colId xmlns:a16="http://schemas.microsoft.com/office/drawing/2014/main" val="1532902921"/>
                    </a:ext>
                  </a:extLst>
                </a:gridCol>
              </a:tblGrid>
              <a:tr h="276498">
                <a:tc>
                  <a:txBody>
                    <a:bodyPr/>
                    <a:lstStyle/>
                    <a:p>
                      <a:r>
                        <a:rPr lang="en-US">
                          <a:latin typeface="Arial Nova"/>
                        </a:rPr>
                        <a:t>Feature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 Nova"/>
                        </a:rPr>
                        <a:t>Stored Procedures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 Nova"/>
                        </a:rPr>
                        <a:t>Functions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200528"/>
                  </a:ext>
                </a:extLst>
              </a:tr>
              <a:tr h="480233">
                <a:tc>
                  <a:txBody>
                    <a:bodyPr/>
                    <a:lstStyle/>
                    <a:p>
                      <a:r>
                        <a:rPr lang="en-US">
                          <a:latin typeface="Arial Nova"/>
                        </a:rPr>
                        <a:t>Introduction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 Nova"/>
                        </a:rPr>
                        <a:t>Introduced in PostgreSQL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 Nova"/>
                        </a:rPr>
                        <a:t>Available since early PostgreSQL versions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5355810"/>
                  </a:ext>
                </a:extLst>
              </a:tr>
              <a:tr h="480233">
                <a:tc>
                  <a:txBody>
                    <a:bodyPr/>
                    <a:lstStyle/>
                    <a:p>
                      <a:r>
                        <a:rPr lang="en-US">
                          <a:latin typeface="Arial Nova"/>
                        </a:rPr>
                        <a:t>Return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 Nova"/>
                        </a:rPr>
                        <a:t>Do not return values by default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 Nova"/>
                        </a:rPr>
                        <a:t>Must return a value (scalar, record, or table)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6468134"/>
                  </a:ext>
                </a:extLst>
              </a:tr>
              <a:tr h="480233">
                <a:tc>
                  <a:txBody>
                    <a:bodyPr/>
                    <a:lstStyle/>
                    <a:p>
                      <a:r>
                        <a:rPr lang="en-US">
                          <a:latin typeface="Arial Nova"/>
                        </a:rPr>
                        <a:t>Transaction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 Nova"/>
                        </a:rPr>
                        <a:t>Supports COMMIT, ROLLBACK, and </a:t>
                      </a:r>
                      <a:r>
                        <a:rPr lang="en-US" err="1">
                          <a:latin typeface="Arial Nova"/>
                        </a:rPr>
                        <a:t>savepoints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 Nova"/>
                        </a:rPr>
                        <a:t>Cannot manage transactions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8957650"/>
                  </a:ext>
                </a:extLst>
              </a:tr>
              <a:tr h="276498">
                <a:tc>
                  <a:txBody>
                    <a:bodyPr/>
                    <a:lstStyle/>
                    <a:p>
                      <a:r>
                        <a:rPr lang="en-US">
                          <a:latin typeface="Arial Nova"/>
                        </a:rPr>
                        <a:t>Syntax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 Nova"/>
                        </a:rPr>
                        <a:t>CREATE PROCEDURE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 Nova"/>
                        </a:rPr>
                        <a:t>CREATE FUNCTION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0298334"/>
                  </a:ext>
                </a:extLst>
              </a:tr>
              <a:tr h="480233">
                <a:tc>
                  <a:txBody>
                    <a:bodyPr/>
                    <a:lstStyle/>
                    <a:p>
                      <a:r>
                        <a:rPr lang="en-US">
                          <a:latin typeface="Arial Nova"/>
                        </a:rPr>
                        <a:t>Call Statement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 Nova"/>
                        </a:rPr>
                        <a:t>Invoked with 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 Nova"/>
                        </a:rPr>
                        <a:t>Used within SQL queries or expressions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7430524"/>
                  </a:ext>
                </a:extLst>
              </a:tr>
              <a:tr h="683971">
                <a:tc>
                  <a:txBody>
                    <a:bodyPr/>
                    <a:lstStyle/>
                    <a:p>
                      <a:r>
                        <a:rPr lang="en-US">
                          <a:latin typeface="Arial Nova"/>
                        </a:rPr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 Nova"/>
                        </a:rPr>
                        <a:t>Encapsulates workflows, automation, and complex 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 Nova"/>
                        </a:rPr>
                        <a:t>Handles reusable calculations or data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6355937"/>
                  </a:ext>
                </a:extLst>
              </a:tr>
              <a:tr h="480233">
                <a:tc>
                  <a:txBody>
                    <a:bodyPr/>
                    <a:lstStyle/>
                    <a:p>
                      <a:r>
                        <a:rPr lang="en-US">
                          <a:latin typeface="Arial Nova"/>
                        </a:rPr>
                        <a:t>Dynamic 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 Nova"/>
                        </a:rPr>
                        <a:t>Fully supports execution with EXECUTE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 Nova"/>
                        </a:rPr>
                        <a:t>Limited, no transaction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2858305"/>
                  </a:ext>
                </a:extLst>
              </a:tr>
              <a:tr h="683971">
                <a:tc>
                  <a:txBody>
                    <a:bodyPr/>
                    <a:lstStyle/>
                    <a:p>
                      <a:r>
                        <a:rPr lang="en-US">
                          <a:latin typeface="Arial Nova"/>
                        </a:rPr>
                        <a:t>Typical Use Cases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 Nova"/>
                        </a:rPr>
                        <a:t>ETL processes, data migrations, and transaction workflows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 Nova"/>
                        </a:rPr>
                        <a:t>Data retrieval, calculations, and reporting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0509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36007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6090C-E48A-CFC1-C8C8-9B3B717DC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ova"/>
                <a:ea typeface="+mj-lt"/>
                <a:cs typeface="+mj-lt"/>
              </a:rPr>
              <a:t>Stored Procedures vs. Functions</a:t>
            </a:r>
            <a:endParaRPr lang="en-US">
              <a:latin typeface="Arial Nova"/>
            </a:endParaRP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0A05C566-C2F9-5CAD-6DC6-6711A6B296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268148"/>
              </p:ext>
            </p:extLst>
          </p:nvPr>
        </p:nvGraphicFramePr>
        <p:xfrm>
          <a:off x="521208" y="3081528"/>
          <a:ext cx="11202909" cy="28449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34303">
                  <a:extLst>
                    <a:ext uri="{9D8B030D-6E8A-4147-A177-3AD203B41FA5}">
                      <a16:colId xmlns:a16="http://schemas.microsoft.com/office/drawing/2014/main" val="1636285874"/>
                    </a:ext>
                  </a:extLst>
                </a:gridCol>
                <a:gridCol w="3734303">
                  <a:extLst>
                    <a:ext uri="{9D8B030D-6E8A-4147-A177-3AD203B41FA5}">
                      <a16:colId xmlns:a16="http://schemas.microsoft.com/office/drawing/2014/main" val="2590555952"/>
                    </a:ext>
                  </a:extLst>
                </a:gridCol>
                <a:gridCol w="3734303">
                  <a:extLst>
                    <a:ext uri="{9D8B030D-6E8A-4147-A177-3AD203B41FA5}">
                      <a16:colId xmlns:a16="http://schemas.microsoft.com/office/drawing/2014/main" val="244947220"/>
                    </a:ext>
                  </a:extLst>
                </a:gridCol>
              </a:tblGrid>
              <a:tr h="63758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latin typeface="Arial Nova"/>
                        </a:rPr>
                        <a:t>Scenario</a:t>
                      </a:r>
                      <a:endParaRPr lang="en-US">
                        <a:latin typeface="Arial Nova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latin typeface="Arial Nova"/>
                        </a:rPr>
                        <a:t>Use Stored Procedures</a:t>
                      </a:r>
                      <a:endParaRPr lang="en-US">
                        <a:latin typeface="Arial Nova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Arial Nova"/>
                        </a:rPr>
                        <a:t>Use Functions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981579"/>
                  </a:ext>
                </a:extLst>
              </a:tr>
              <a:tr h="7848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latin typeface="Arial Nova"/>
                        </a:rPr>
                        <a:t>Need transaction control</a:t>
                      </a:r>
                      <a:endParaRPr lang="en-US">
                        <a:latin typeface="Arial Nov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latin typeface="Arial Nova"/>
                        </a:rPr>
                        <a:t>Yes (supports COMMIT, ROLLBACK, </a:t>
                      </a:r>
                      <a:r>
                        <a:rPr lang="en-US" sz="1800" u="none" strike="noStrike" noProof="0" err="1">
                          <a:latin typeface="Arial Nova"/>
                        </a:rPr>
                        <a:t>savepoints</a:t>
                      </a:r>
                      <a:r>
                        <a:rPr lang="en-US" sz="1800" u="none" strike="noStrike" noProof="0">
                          <a:latin typeface="Arial Nova"/>
                        </a:rPr>
                        <a:t>)</a:t>
                      </a:r>
                      <a:endParaRPr lang="en-US">
                        <a:latin typeface="Arial Nov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latin typeface="Arial Nova"/>
                        </a:rPr>
                        <a:t>No</a:t>
                      </a:r>
                      <a:endParaRPr lang="en-US">
                        <a:latin typeface="Arial Nov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483915"/>
                  </a:ext>
                </a:extLst>
              </a:tr>
              <a:tr h="63758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latin typeface="Arial Nova"/>
                        </a:rPr>
                        <a:t>Returning values</a:t>
                      </a:r>
                      <a:endParaRPr lang="en-US">
                        <a:latin typeface="Arial Nov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latin typeface="Arial Nova"/>
                        </a:rPr>
                        <a:t>Not directly; uses OUT parameters</a:t>
                      </a:r>
                      <a:endParaRPr lang="en-US">
                        <a:latin typeface="Arial Nov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latin typeface="Arial Nova"/>
                        </a:rPr>
                        <a:t>Yes</a:t>
                      </a:r>
                      <a:endParaRPr lang="en-US">
                        <a:latin typeface="Arial Nov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413327"/>
                  </a:ext>
                </a:extLst>
              </a:tr>
              <a:tr h="7848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solidFill>
                            <a:srgbClr val="000000"/>
                          </a:solidFill>
                          <a:latin typeface="Arial Nova"/>
                        </a:rPr>
                        <a:t>SQL Expression Integration</a:t>
                      </a:r>
                      <a:endParaRPr lang="en-US">
                        <a:latin typeface="Arial Nov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latin typeface="Arial Nova"/>
                        </a:rPr>
                        <a:t>Cannot be embedded in SQL queries</a:t>
                      </a:r>
                      <a:endParaRPr lang="en-US">
                        <a:latin typeface="Arial Nov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>
                          <a:latin typeface="Arial Nova"/>
                        </a:rPr>
                        <a:t>Fully embeddable in SQL</a:t>
                      </a:r>
                      <a:endParaRPr lang="en-US">
                        <a:latin typeface="Arial Nov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546600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57F0DFFA-427A-6997-8D54-732CD8D0F1A4}"/>
              </a:ext>
            </a:extLst>
          </p:cNvPr>
          <p:cNvSpPr txBox="1"/>
          <p:nvPr/>
        </p:nvSpPr>
        <p:spPr>
          <a:xfrm>
            <a:off x="837235" y="1686046"/>
            <a:ext cx="640963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Arial Nova"/>
              </a:rPr>
              <a:t>Key differences:</a:t>
            </a:r>
          </a:p>
          <a:p>
            <a:pPr marL="228600" lvl="1" indent="-228600">
              <a:buFont typeface=""/>
              <a:buChar char="•"/>
            </a:pPr>
            <a:r>
              <a:rPr lang="en-US" sz="2400">
                <a:latin typeface="Arial Nova"/>
              </a:rPr>
              <a:t>Can return no value</a:t>
            </a:r>
          </a:p>
          <a:p>
            <a:pPr marL="228600" lvl="1" indent="-228600">
              <a:buFont typeface=""/>
              <a:buChar char="•"/>
            </a:pPr>
            <a:r>
              <a:rPr lang="en-US" sz="2400">
                <a:latin typeface="Arial Nova"/>
              </a:rPr>
              <a:t>Support transaction control</a:t>
            </a:r>
          </a:p>
        </p:txBody>
      </p:sp>
    </p:spTree>
    <p:extLst>
      <p:ext uri="{BB962C8B-B14F-4D97-AF65-F5344CB8AC3E}">
        <p14:creationId xmlns:p14="http://schemas.microsoft.com/office/powerpoint/2010/main" val="40958483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7EE02-3A86-398A-6BC5-80F90FE58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>
                <a:latin typeface="Arial Nova"/>
              </a:rPr>
              <a:t>Simple Example </a:t>
            </a:r>
          </a:p>
        </p:txBody>
      </p:sp>
      <p:pic>
        <p:nvPicPr>
          <p:cNvPr id="6" name="Content Placeholder 5" descr="A screenshot of a table&#10;&#10;Description automatically generated">
            <a:extLst>
              <a:ext uri="{FF2B5EF4-FFF2-40B4-BE49-F238E27FC236}">
                <a16:creationId xmlns:a16="http://schemas.microsoft.com/office/drawing/2014/main" id="{EF3B47E3-59ED-4E58-6CD0-DFEAF65F2F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57544" y="207765"/>
            <a:ext cx="6211167" cy="3972479"/>
          </a:xfrm>
          <a:prstGeom prst="rect">
            <a:avLst/>
          </a:prstGeom>
        </p:spPr>
      </p:pic>
      <p:pic>
        <p:nvPicPr>
          <p:cNvPr id="4" name="Content Placeholder 3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5E713F14-369F-7683-18DD-4FCBFBF8C1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10"/>
          <a:stretch/>
        </p:blipFill>
        <p:spPr>
          <a:xfrm>
            <a:off x="274087" y="2213055"/>
            <a:ext cx="5965941" cy="397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3831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7EE02-3A86-398A-6BC5-80F90FE58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990" y="637763"/>
            <a:ext cx="2916358" cy="1627274"/>
          </a:xfrm>
        </p:spPr>
        <p:txBody>
          <a:bodyPr anchor="t">
            <a:normAutofit/>
          </a:bodyPr>
          <a:lstStyle/>
          <a:p>
            <a:r>
              <a:rPr lang="en-US" sz="4000" b="1">
                <a:latin typeface="Arial Nova"/>
              </a:rPr>
              <a:t>Simple Example </a:t>
            </a:r>
          </a:p>
        </p:txBody>
      </p:sp>
      <p:pic>
        <p:nvPicPr>
          <p:cNvPr id="9" name="Content Placeholder 8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A95F5D35-38D8-8855-0663-8CD98BBC33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893" y="404580"/>
            <a:ext cx="7035624" cy="2950367"/>
          </a:xfrm>
        </p:spPr>
      </p:pic>
      <p:pic>
        <p:nvPicPr>
          <p:cNvPr id="10" name="Picture 9" descr="A close-up of words&#10;&#10;Description automatically generated">
            <a:extLst>
              <a:ext uri="{FF2B5EF4-FFF2-40B4-BE49-F238E27FC236}">
                <a16:creationId xmlns:a16="http://schemas.microsoft.com/office/drawing/2014/main" id="{B4D38370-93A7-4B03-4763-DF18DDE09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4686" y="2732709"/>
            <a:ext cx="2590800" cy="685800"/>
          </a:xfrm>
          <a:prstGeom prst="rect">
            <a:avLst/>
          </a:prstGeom>
        </p:spPr>
      </p:pic>
      <p:pic>
        <p:nvPicPr>
          <p:cNvPr id="14" name="Picture 13" descr="A screenshot of a table&#10;&#10;Description automatically generated">
            <a:extLst>
              <a:ext uri="{FF2B5EF4-FFF2-40B4-BE49-F238E27FC236}">
                <a16:creationId xmlns:a16="http://schemas.microsoft.com/office/drawing/2014/main" id="{8F171C6B-F452-B448-D9D5-AA42956A28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282402"/>
            <a:ext cx="5446101" cy="3460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1468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6037F-5228-38CA-9843-5A4D5B41A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433647" cy="89858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b="1">
                <a:latin typeface="Arial Nova"/>
                <a:ea typeface="+mj-lt"/>
                <a:cs typeface="+mj-lt"/>
              </a:rPr>
              <a:t>Stored Procedure with Multiple SQL Statements</a:t>
            </a:r>
            <a:endParaRPr lang="en-US" sz="4000" b="1">
              <a:latin typeface="Arial Nova"/>
            </a:endParaRPr>
          </a:p>
        </p:txBody>
      </p:sp>
      <p:pic>
        <p:nvPicPr>
          <p:cNvPr id="4" name="Content Placeholder 3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B23CAC47-5F32-73ED-C632-BF2641F0A0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935" y="2139697"/>
            <a:ext cx="6030770" cy="3814460"/>
          </a:xfrm>
          <a:prstGeom prst="rect">
            <a:avLst/>
          </a:prstGeom>
        </p:spPr>
      </p:pic>
      <p:pic>
        <p:nvPicPr>
          <p:cNvPr id="5" name="Picture 4" descr="A screenshot of a table&#10;&#10;Description automatically generated">
            <a:extLst>
              <a:ext uri="{FF2B5EF4-FFF2-40B4-BE49-F238E27FC236}">
                <a16:creationId xmlns:a16="http://schemas.microsoft.com/office/drawing/2014/main" id="{6C5098B0-B0F6-4969-87EF-4E1EE5F3C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571" y="1064893"/>
            <a:ext cx="6277966" cy="2982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9251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6037F-5228-38CA-9843-5A4D5B41A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665560" cy="89858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b="1">
                <a:latin typeface="Arial Nova"/>
                <a:ea typeface="+mj-lt"/>
                <a:cs typeface="+mj-lt"/>
              </a:rPr>
              <a:t>Stored Procedure with Multiple SQL Statements</a:t>
            </a:r>
            <a:endParaRPr lang="en-US" sz="4000" b="1">
              <a:latin typeface="Arial Nova"/>
            </a:endParaRPr>
          </a:p>
        </p:txBody>
      </p:sp>
      <p:pic>
        <p:nvPicPr>
          <p:cNvPr id="7" name="Content Placeholder 6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9E7D59FE-9634-ACEB-7A87-D0B6E6BD78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822"/>
          <a:stretch/>
        </p:blipFill>
        <p:spPr>
          <a:xfrm>
            <a:off x="395368" y="1618488"/>
            <a:ext cx="6270607" cy="5010911"/>
          </a:xfrm>
        </p:spPr>
      </p:pic>
      <p:pic>
        <p:nvPicPr>
          <p:cNvPr id="8" name="Picture 7" descr="A screenshot of a table&#10;&#10;Description automatically generated">
            <a:extLst>
              <a:ext uri="{FF2B5EF4-FFF2-40B4-BE49-F238E27FC236}">
                <a16:creationId xmlns:a16="http://schemas.microsoft.com/office/drawing/2014/main" id="{78FE8D72-5F91-CAB6-D51B-579219376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9442" y="1973353"/>
            <a:ext cx="5947190" cy="261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1657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7EE02-3A86-398A-6BC5-80F90FE58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>
                <a:latin typeface="Arial Nova"/>
              </a:rPr>
              <a:t>Example with </a:t>
            </a:r>
            <a:r>
              <a:rPr lang="en-US" sz="4000" b="1">
                <a:latin typeface="Arial Nova"/>
                <a:ea typeface="+mj-lt"/>
                <a:cs typeface="+mj-lt"/>
              </a:rPr>
              <a:t>transaction </a:t>
            </a:r>
            <a:endParaRPr lang="en-US" sz="4000" b="1">
              <a:latin typeface="Arial Nova"/>
            </a:endParaRPr>
          </a:p>
        </p:txBody>
      </p:sp>
      <p:pic>
        <p:nvPicPr>
          <p:cNvPr id="5" name="Content Placeholder 4" descr="A computer code with numbers and letters&#10;&#10;Description automatically generated">
            <a:extLst>
              <a:ext uri="{FF2B5EF4-FFF2-40B4-BE49-F238E27FC236}">
                <a16:creationId xmlns:a16="http://schemas.microsoft.com/office/drawing/2014/main" id="{6C7E59D6-A959-656E-4D1C-C86F23A6C8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41065" y="1083122"/>
            <a:ext cx="6017846" cy="3249637"/>
          </a:xfrm>
          <a:prstGeom prst="rect">
            <a:avLst/>
          </a:prstGeom>
        </p:spPr>
      </p:pic>
      <p:pic>
        <p:nvPicPr>
          <p:cNvPr id="6" name="Picture 5" descr="A screenshot of a phone&#10;&#10;Description automatically generated">
            <a:extLst>
              <a:ext uri="{FF2B5EF4-FFF2-40B4-BE49-F238E27FC236}">
                <a16:creationId xmlns:a16="http://schemas.microsoft.com/office/drawing/2014/main" id="{17F8FFD1-40EB-B6DA-D23A-09553F83B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196" y="4332759"/>
            <a:ext cx="5131088" cy="207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7291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5B00C-2597-0375-E6CD-B8D65763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287" y="177387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>
                <a:latin typeface="Arial Nova"/>
                <a:ea typeface="+mj-lt"/>
                <a:cs typeface="+mj-lt"/>
              </a:rPr>
              <a:t>Example with transaction </a:t>
            </a:r>
            <a:endParaRPr lang="en-US" sz="4000" b="1">
              <a:latin typeface="Arial Nova"/>
            </a:endParaRPr>
          </a:p>
        </p:txBody>
      </p:sp>
      <p:pic>
        <p:nvPicPr>
          <p:cNvPr id="4" name="Content Placeholder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148800C6-2A34-DD53-442D-B7211DD1D5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721" y="1335024"/>
            <a:ext cx="4753661" cy="5345589"/>
          </a:xfrm>
        </p:spPr>
      </p:pic>
      <p:pic>
        <p:nvPicPr>
          <p:cNvPr id="5" name="Picture 4" descr="A screen shot of a computer error&#10;&#10;Description automatically generated">
            <a:extLst>
              <a:ext uri="{FF2B5EF4-FFF2-40B4-BE49-F238E27FC236}">
                <a16:creationId xmlns:a16="http://schemas.microsoft.com/office/drawing/2014/main" id="{5D415FFD-9656-5CDE-DCEB-4E49561F0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3383" y="1865313"/>
            <a:ext cx="6784976" cy="2000941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790640F0-A2CB-8B32-E407-5A57483EA4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308" y="4320071"/>
            <a:ext cx="3914775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0930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A1CEF-3505-F754-095F-11E2579D3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630936"/>
            <a:ext cx="5330275" cy="1951075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>
                <a:latin typeface="Arial Nova"/>
              </a:rPr>
              <a:t>Dynamic SQL in Stored Procedures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3B6D1-6C88-B72A-8F9C-138A52AE2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7718" y="630936"/>
            <a:ext cx="4992469" cy="1951087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>
                <a:solidFill>
                  <a:schemeClr val="bg1"/>
                </a:solidFill>
                <a:latin typeface="Arial Nova"/>
              </a:rPr>
              <a:t>Dynamic SQL allows you to construct and execute SQL statements at runtime.</a:t>
            </a:r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7D1ECC1A-3859-11D2-B251-5FA460D0F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13" y="2756877"/>
            <a:ext cx="5330898" cy="3038611"/>
          </a:xfrm>
          <a:prstGeom prst="rect">
            <a:avLst/>
          </a:prstGeom>
        </p:spPr>
      </p:pic>
      <p:pic>
        <p:nvPicPr>
          <p:cNvPr id="6" name="Picture 5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809272C3-04D3-76E5-D3B0-2F90392AF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111" y="2756877"/>
            <a:ext cx="5330898" cy="2477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3423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A1CEF-3505-F754-095F-11E2579D3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630936"/>
            <a:ext cx="5330275" cy="1951075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>
                <a:latin typeface="Arial Nova"/>
                <a:ea typeface="+mj-lt"/>
                <a:cs typeface="+mj-lt"/>
              </a:rPr>
              <a:t>Error Handling in Stored Procedures</a:t>
            </a:r>
            <a:endParaRPr lang="en-US" b="1">
              <a:latin typeface="Arial Nova"/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3B6D1-6C88-B72A-8F9C-138A52AE2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7718" y="630936"/>
            <a:ext cx="4992469" cy="1951087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>
                <a:solidFill>
                  <a:schemeClr val="bg1"/>
                </a:solidFill>
                <a:latin typeface="Arial Nova"/>
                <a:ea typeface="+mn-lt"/>
                <a:cs typeface="+mn-lt"/>
              </a:rPr>
              <a:t>Error handling in PostgreSQL stored procedures ensures that errors during execution are managed gracefully</a:t>
            </a:r>
            <a:endParaRPr lang="en-US" sz="2400">
              <a:solidFill>
                <a:schemeClr val="bg1"/>
              </a:solidFill>
              <a:latin typeface="Arial Nova"/>
            </a:endParaRPr>
          </a:p>
        </p:txBody>
      </p:sp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9A250A08-2FD0-9A59-A237-271E8DAA0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6909" y="2238496"/>
            <a:ext cx="6027396" cy="425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4226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B25BF-3161-453D-3C58-28516F58D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859536"/>
            <a:ext cx="4832802" cy="1170432"/>
          </a:xfrm>
        </p:spPr>
        <p:txBody>
          <a:bodyPr anchor="b">
            <a:normAutofit/>
          </a:bodyPr>
          <a:lstStyle/>
          <a:p>
            <a:r>
              <a:rPr lang="en-US" sz="3400" b="1">
                <a:latin typeface="Arial Nova"/>
                <a:ea typeface="+mj-lt"/>
                <a:cs typeface="+mj-lt"/>
              </a:rPr>
              <a:t>Real-World Use Cases for Stored Procedures</a:t>
            </a:r>
            <a:endParaRPr lang="en-US" sz="3400" b="1">
              <a:latin typeface="Arial Nov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A37BB-AF8F-690D-8C49-1187AD8A7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2512611"/>
            <a:ext cx="4832803" cy="366435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800" b="1">
                <a:latin typeface="Arial Nova"/>
              </a:rPr>
              <a:t>1. Data Transformation</a:t>
            </a:r>
            <a:endParaRPr lang="en-US" sz="1800">
              <a:latin typeface="Arial Nova"/>
            </a:endParaRPr>
          </a:p>
          <a:p>
            <a:pPr algn="just"/>
            <a:r>
              <a:rPr lang="en-US" sz="1800">
                <a:latin typeface="Arial Nova"/>
                <a:ea typeface="+mn-lt"/>
                <a:cs typeface="+mn-lt"/>
              </a:rPr>
              <a:t>Transform and preprocess data for analytics or reporting.</a:t>
            </a:r>
            <a:endParaRPr lang="en-US" sz="1800">
              <a:latin typeface="Arial Nova"/>
            </a:endParaRPr>
          </a:p>
          <a:p>
            <a:pPr algn="just"/>
            <a:r>
              <a:rPr lang="en-US" sz="1800">
                <a:latin typeface="Arial Nova"/>
                <a:ea typeface="+mn-lt"/>
                <a:cs typeface="+mn-lt"/>
              </a:rPr>
              <a:t>Example: Aggregating sales data by region and time period.</a:t>
            </a:r>
            <a:endParaRPr lang="en-US" sz="1800">
              <a:latin typeface="Arial Nova"/>
            </a:endParaRPr>
          </a:p>
          <a:p>
            <a:pPr>
              <a:buNone/>
            </a:pPr>
            <a:r>
              <a:rPr lang="en-US" sz="1800" b="1">
                <a:latin typeface="Arial Nova"/>
              </a:rPr>
              <a:t>2. Business Logic Encapsulation</a:t>
            </a:r>
            <a:endParaRPr lang="en-US" sz="1800">
              <a:latin typeface="Arial Nova"/>
            </a:endParaRPr>
          </a:p>
          <a:p>
            <a:pPr algn="just">
              <a:buFont typeface="Arial"/>
              <a:buChar char="•"/>
            </a:pPr>
            <a:r>
              <a:rPr lang="en-US" sz="1800">
                <a:latin typeface="Arial Nova"/>
                <a:ea typeface="+mn-lt"/>
                <a:cs typeface="+mn-lt"/>
              </a:rPr>
              <a:t>Encapsulate business rules within the database to enforce consistency.</a:t>
            </a:r>
            <a:endParaRPr lang="en-US" sz="1800">
              <a:latin typeface="Arial Nova"/>
            </a:endParaRPr>
          </a:p>
          <a:p>
            <a:pPr algn="just">
              <a:buFont typeface="Arial"/>
              <a:buChar char="•"/>
            </a:pPr>
            <a:r>
              <a:rPr lang="en-US" sz="1800">
                <a:latin typeface="Arial Nova"/>
                <a:ea typeface="+mn-lt"/>
                <a:cs typeface="+mn-lt"/>
              </a:rPr>
              <a:t>Example: Automating salary adjustments based on performance ratings.</a:t>
            </a:r>
            <a:endParaRPr lang="en-US" sz="1800">
              <a:latin typeface="Arial Nova"/>
            </a:endParaRPr>
          </a:p>
          <a:p>
            <a:pPr marL="0" indent="0">
              <a:buNone/>
            </a:pPr>
            <a:endParaRPr lang="en-US" sz="1800">
              <a:latin typeface="Arial Nova"/>
            </a:endParaRPr>
          </a:p>
          <a:p>
            <a:pPr marL="0" indent="0">
              <a:buNone/>
            </a:pPr>
            <a:endParaRPr lang="en-US" sz="1800">
              <a:latin typeface="Arial Nova"/>
            </a:endParaRPr>
          </a:p>
          <a:p>
            <a:endParaRPr lang="en-US" sz="1800">
              <a:latin typeface="Arial Nova"/>
            </a:endParaRPr>
          </a:p>
        </p:txBody>
      </p:sp>
      <p:pic>
        <p:nvPicPr>
          <p:cNvPr id="5" name="Picture 4" descr="A computer code with text&#10;&#10;Description automatically generated">
            <a:extLst>
              <a:ext uri="{FF2B5EF4-FFF2-40B4-BE49-F238E27FC236}">
                <a16:creationId xmlns:a16="http://schemas.microsoft.com/office/drawing/2014/main" id="{72188B76-6DBC-3C8C-7A9E-C92B6E0EC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762" y="3607361"/>
            <a:ext cx="5138928" cy="2389601"/>
          </a:xfrm>
          <a:prstGeom prst="rect">
            <a:avLst/>
          </a:prstGeom>
        </p:spPr>
      </p:pic>
      <p:pic>
        <p:nvPicPr>
          <p:cNvPr id="4" name="Picture 3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8DF47499-5E64-BDF0-87D6-B145BACC52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86" b="1212"/>
          <a:stretch/>
        </p:blipFill>
        <p:spPr>
          <a:xfrm>
            <a:off x="6099394" y="926968"/>
            <a:ext cx="6003922" cy="157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4153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A73DCD-E931-431C-2BCE-F2CBD0DF3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5181B7-193D-84D0-59A8-2304385BA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10222189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D71570AD13F0224BB1245ED162607349" ma:contentTypeVersion="8" ma:contentTypeDescription="Создание документа." ma:contentTypeScope="" ma:versionID="b34c0b78990df12d174317d7290c462f">
  <xsd:schema xmlns:xsd="http://www.w3.org/2001/XMLSchema" xmlns:xs="http://www.w3.org/2001/XMLSchema" xmlns:p="http://schemas.microsoft.com/office/2006/metadata/properties" xmlns:ns2="14a8a632-e596-4d42-a9cb-ac377c4fa28b" targetNamespace="http://schemas.microsoft.com/office/2006/metadata/properties" ma:root="true" ma:fieldsID="51dadbd8aa9e92f520983c4df36c56ca" ns2:_="">
    <xsd:import namespace="14a8a632-e596-4d42-a9cb-ac377c4fa2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a8a632-e596-4d42-a9cb-ac377c4fa2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8A457D0-53B8-4ABB-B424-35EC6711F16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2EBAB8B-8C28-4DA0-8273-CC9D25A469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E54CC2-7EEC-478B-845C-AAA503A22CD5}">
  <ds:schemaRefs>
    <ds:schemaRef ds:uri="14a8a632-e596-4d42-a9cb-ac377c4fa28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31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Тема Office</vt:lpstr>
      <vt:lpstr>Lecture 11</vt:lpstr>
      <vt:lpstr>PostgreSQL Procedure </vt:lpstr>
      <vt:lpstr>Advantage 1</vt:lpstr>
      <vt:lpstr>Advantage 2</vt:lpstr>
      <vt:lpstr>Advantage 2</vt:lpstr>
      <vt:lpstr>Disadvantages</vt:lpstr>
      <vt:lpstr>Stored Procedures</vt:lpstr>
      <vt:lpstr>Key Characteristics </vt:lpstr>
      <vt:lpstr>Key Characteristics </vt:lpstr>
      <vt:lpstr>PL/pgSQL Overview</vt:lpstr>
      <vt:lpstr>PL/pgSQL Basics</vt:lpstr>
      <vt:lpstr>Basic Syntax</vt:lpstr>
      <vt:lpstr>Basic Syntax</vt:lpstr>
      <vt:lpstr>Parameters </vt:lpstr>
      <vt:lpstr>Parameters </vt:lpstr>
      <vt:lpstr>IN Parameters Example </vt:lpstr>
      <vt:lpstr>OUT Parameters Example </vt:lpstr>
      <vt:lpstr>INOUT Parameters Example</vt:lpstr>
      <vt:lpstr>Functions</vt:lpstr>
      <vt:lpstr>Stored Procedures vs. Functions</vt:lpstr>
      <vt:lpstr>Stored Procedures vs. Functions</vt:lpstr>
      <vt:lpstr>Simple Example </vt:lpstr>
      <vt:lpstr>Simple Example </vt:lpstr>
      <vt:lpstr>Stored Procedure with Multiple SQL Statements</vt:lpstr>
      <vt:lpstr>Stored Procedure with Multiple SQL Statements</vt:lpstr>
      <vt:lpstr>Example with transaction </vt:lpstr>
      <vt:lpstr>Example with transaction </vt:lpstr>
      <vt:lpstr>Dynamic SQL in Stored Procedures</vt:lpstr>
      <vt:lpstr>Error Handling in Stored Procedures</vt:lpstr>
      <vt:lpstr>Real-World Use Cases for Stored Procedures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2024-11-19T03:57:22Z</dcterms:created>
  <dcterms:modified xsi:type="dcterms:W3CDTF">2024-12-24T06:33:06Z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0x010100D71570AD13F0224BB1245ED162607349</vt:lpwstr>
  </property>
</Properties>
</file>