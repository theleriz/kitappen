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</p:sldIdLst>
  <p:sldSz cx="12192000" cy="6858000"/>
  <p:notesSz cx="12192000" cy="6858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24B814-9291-9F5D-52F9-F1482DDF259F}" v="1" dt="2024-12-24T08:16:22.34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sem Seidkarim" userId="S::a_seidkarim@kbtu.kz::8b1c4eeb-56d3-46eb-8cb6-8c4aa00b4d2e" providerId="AD" clId="Web-{DF24B814-9291-9F5D-52F9-F1482DDF259F}"/>
    <pc:docChg chg="modSld">
      <pc:chgData name="Assem Seidkarim" userId="S::a_seidkarim@kbtu.kz::8b1c4eeb-56d3-46eb-8cb6-8c4aa00b4d2e" providerId="AD" clId="Web-{DF24B814-9291-9F5D-52F9-F1482DDF259F}" dt="2024-12-24T08:16:22.349" v="0"/>
      <pc:docMkLst>
        <pc:docMk/>
      </pc:docMkLst>
      <pc:sldChg chg="addSp delSp modSp">
        <pc:chgData name="Assem Seidkarim" userId="S::a_seidkarim@kbtu.kz::8b1c4eeb-56d3-46eb-8cb6-8c4aa00b4d2e" providerId="AD" clId="Web-{DF24B814-9291-9F5D-52F9-F1482DDF259F}" dt="2024-12-24T08:16:22.349" v="0"/>
        <pc:sldMkLst>
          <pc:docMk/>
          <pc:sldMk cId="0" sldId="282"/>
        </pc:sldMkLst>
        <pc:spChg chg="del">
          <ac:chgData name="Assem Seidkarim" userId="S::a_seidkarim@kbtu.kz::8b1c4eeb-56d3-46eb-8cb6-8c4aa00b4d2e" providerId="AD" clId="Web-{DF24B814-9291-9F5D-52F9-F1482DDF259F}" dt="2024-12-24T08:16:22.349" v="0"/>
          <ac:spMkLst>
            <pc:docMk/>
            <pc:sldMk cId="0" sldId="282"/>
            <ac:spMk id="2" creationId="{00000000-0000-0000-0000-000000000000}"/>
          </ac:spMkLst>
        </pc:spChg>
        <pc:spChg chg="add mod">
          <ac:chgData name="Assem Seidkarim" userId="S::a_seidkarim@kbtu.kz::8b1c4eeb-56d3-46eb-8cb6-8c4aa00b4d2e" providerId="AD" clId="Web-{DF24B814-9291-9F5D-52F9-F1482DDF259F}" dt="2024-12-24T08:16:22.349" v="0"/>
          <ac:spMkLst>
            <pc:docMk/>
            <pc:sldMk cId="0" sldId="282"/>
            <ac:spMk id="5" creationId="{E8CABE20-FB7A-C418-859D-132E19A2BDD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33985" y="1014476"/>
            <a:ext cx="5124028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12221" y="725931"/>
            <a:ext cx="2567556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5779"/>
            <a:ext cx="10358120" cy="3259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/>
              <a:t>Lecture</a:t>
            </a:r>
            <a:r>
              <a:rPr spc="-75"/>
              <a:t> </a:t>
            </a:r>
            <a:r>
              <a:t>1</a:t>
            </a:r>
            <a:r>
              <a:rPr lang="en-US"/>
              <a:t>2</a:t>
            </a:r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6939" y="1795779"/>
            <a:ext cx="10358120" cy="948978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886835" marR="5080" indent="-2081530">
              <a:lnSpc>
                <a:spcPts val="6500"/>
              </a:lnSpc>
              <a:spcBef>
                <a:spcPts val="900"/>
              </a:spcBef>
            </a:pPr>
            <a:r>
              <a:rPr lang="en-US" sz="6000" b="1" spc="-35">
                <a:latin typeface="Arial"/>
                <a:cs typeface="Arial"/>
              </a:rPr>
              <a:t>        </a:t>
            </a:r>
            <a:r>
              <a:rPr sz="6000" b="1">
                <a:latin typeface="Arial"/>
                <a:cs typeface="Arial"/>
              </a:rPr>
              <a:t> </a:t>
            </a:r>
            <a:r>
              <a:rPr sz="6000" b="1" spc="-1655">
                <a:latin typeface="Arial"/>
                <a:cs typeface="Arial"/>
              </a:rPr>
              <a:t> </a:t>
            </a:r>
            <a:r>
              <a:rPr lang="en-US" sz="6000" b="1" spc="-1655">
                <a:latin typeface="Arial"/>
                <a:cs typeface="Arial"/>
              </a:rPr>
              <a:t>    </a:t>
            </a:r>
            <a:r>
              <a:rPr sz="6000" b="1" spc="-50">
                <a:latin typeface="Arial"/>
                <a:cs typeface="Arial"/>
              </a:rPr>
              <a:t>Trigger</a:t>
            </a:r>
            <a:endParaRPr sz="6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16939" y="1795779"/>
            <a:ext cx="9958705" cy="433317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380365" algn="just">
              <a:lnSpc>
                <a:spcPts val="3000"/>
              </a:lnSpc>
              <a:spcBef>
                <a:spcPts val="500"/>
              </a:spcBef>
            </a:pPr>
            <a:r>
              <a:rPr sz="3600">
                <a:latin typeface="Times New Roman" panose="02020603050405020304" pitchFamily="18" charset="0"/>
                <a:cs typeface="Times New Roman" panose="02020603050405020304" pitchFamily="18" charset="0"/>
              </a:rPr>
              <a:t>A PostgreSQL </a:t>
            </a:r>
            <a:r>
              <a:rPr sz="3600" b="1" spc="-5">
                <a:latin typeface="Times New Roman" panose="02020603050405020304" pitchFamily="18" charset="0"/>
                <a:cs typeface="Times New Roman" panose="02020603050405020304" pitchFamily="18" charset="0"/>
              </a:rPr>
              <a:t>trigger </a:t>
            </a:r>
            <a:r>
              <a:rPr sz="3600">
                <a:latin typeface="Times New Roman" panose="02020603050405020304" pitchFamily="18" charset="0"/>
                <a:cs typeface="Times New Roman" panose="02020603050405020304" pitchFamily="18" charset="0"/>
              </a:rPr>
              <a:t>is a function invoked automatically </a:t>
            </a:r>
            <a:r>
              <a:rPr sz="3600" spc="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>
                <a:latin typeface="Times New Roman" panose="02020603050405020304" pitchFamily="18" charset="0"/>
                <a:cs typeface="Times New Roman" panose="02020603050405020304" pitchFamily="18" charset="0"/>
              </a:rPr>
              <a:t>whenever an event associated </a:t>
            </a:r>
            <a:r>
              <a:rPr sz="3600" spc="-5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3600">
                <a:latin typeface="Times New Roman" panose="02020603050405020304" pitchFamily="18" charset="0"/>
                <a:cs typeface="Times New Roman" panose="02020603050405020304" pitchFamily="18" charset="0"/>
              </a:rPr>
              <a:t>a table occurs. </a:t>
            </a:r>
            <a:r>
              <a:rPr sz="3600" spc="-5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z="3600">
                <a:latin typeface="Times New Roman" panose="02020603050405020304" pitchFamily="18" charset="0"/>
                <a:cs typeface="Times New Roman" panose="02020603050405020304" pitchFamily="18" charset="0"/>
              </a:rPr>
              <a:t>event </a:t>
            </a:r>
            <a:r>
              <a:rPr sz="3600" spc="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>
                <a:latin typeface="Times New Roman" panose="02020603050405020304" pitchFamily="18" charset="0"/>
                <a:cs typeface="Times New Roman" panose="02020603050405020304" pitchFamily="18" charset="0"/>
              </a:rPr>
              <a:t>could be any</a:t>
            </a:r>
            <a:r>
              <a:rPr sz="3600" spc="-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6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following:</a:t>
            </a:r>
            <a:r>
              <a:rPr sz="36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55">
                <a:latin typeface="Times New Roman" panose="02020603050405020304" pitchFamily="18" charset="0"/>
                <a:cs typeface="Times New Roman" panose="02020603050405020304" pitchFamily="18" charset="0"/>
              </a:rPr>
              <a:t>INSERT,</a:t>
            </a:r>
            <a:r>
              <a:rPr sz="36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35">
                <a:latin typeface="Times New Roman" panose="02020603050405020304" pitchFamily="18" charset="0"/>
                <a:cs typeface="Times New Roman" panose="02020603050405020304" pitchFamily="18" charset="0"/>
              </a:rPr>
              <a:t>UPDATE,</a:t>
            </a:r>
            <a:r>
              <a:rPr sz="36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5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sz="36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3600" spc="-76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25">
                <a:latin typeface="Times New Roman" panose="02020603050405020304" pitchFamily="18" charset="0"/>
                <a:cs typeface="Times New Roman" panose="02020603050405020304" pitchFamily="18" charset="0"/>
              </a:rPr>
              <a:t>TRUNCATE.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ts val="3000"/>
              </a:lnSpc>
              <a:spcBef>
                <a:spcPts val="1864"/>
              </a:spcBef>
            </a:pPr>
            <a:r>
              <a:rPr sz="36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3600" b="1" spc="-5">
                <a:latin typeface="Times New Roman" panose="02020603050405020304" pitchFamily="18" charset="0"/>
                <a:cs typeface="Times New Roman" panose="02020603050405020304" pitchFamily="18" charset="0"/>
              </a:rPr>
              <a:t>trigger </a:t>
            </a:r>
            <a:r>
              <a:rPr sz="3600">
                <a:latin typeface="Times New Roman" panose="02020603050405020304" pitchFamily="18" charset="0"/>
                <a:cs typeface="Times New Roman" panose="02020603050405020304" pitchFamily="18" charset="0"/>
              </a:rPr>
              <a:t>is a special user-defined function associated </a:t>
            </a:r>
            <a:r>
              <a:rPr sz="3600" spc="-5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36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3600" spc="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>
                <a:latin typeface="Times New Roman" panose="02020603050405020304" pitchFamily="18" charset="0"/>
                <a:cs typeface="Times New Roman" panose="02020603050405020304" pitchFamily="18" charset="0"/>
              </a:rPr>
              <a:t>table.</a:t>
            </a:r>
            <a:r>
              <a:rPr sz="3600" spc="-5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155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3600">
                <a:latin typeface="Times New Roman" panose="02020603050405020304" pitchFamily="18" charset="0"/>
                <a:cs typeface="Times New Roman" panose="02020603050405020304" pitchFamily="18" charset="0"/>
              </a:rPr>
              <a:t> create a</a:t>
            </a:r>
            <a:r>
              <a:rPr sz="3600" spc="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>
                <a:latin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sz="36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trigger,</a:t>
            </a:r>
            <a:r>
              <a:rPr sz="36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>
                <a:latin typeface="Times New Roman" panose="02020603050405020304" pitchFamily="18" charset="0"/>
                <a:cs typeface="Times New Roman" panose="02020603050405020304" pitchFamily="18" charset="0"/>
              </a:rPr>
              <a:t>you define</a:t>
            </a:r>
            <a:r>
              <a:rPr sz="3600" spc="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>
                <a:latin typeface="Times New Roman" panose="02020603050405020304" pitchFamily="18" charset="0"/>
                <a:cs typeface="Times New Roman" panose="02020603050405020304" pitchFamily="18" charset="0"/>
              </a:rPr>
              <a:t>a trigger function </a:t>
            </a:r>
            <a:r>
              <a:rPr sz="3600" spc="-5">
                <a:latin typeface="Times New Roman" panose="02020603050405020304" pitchFamily="18" charset="0"/>
                <a:cs typeface="Times New Roman" panose="02020603050405020304" pitchFamily="18" charset="0"/>
              </a:rPr>
              <a:t>first, </a:t>
            </a:r>
            <a:r>
              <a:rPr sz="3600" spc="-76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600" spc="-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>
                <a:latin typeface="Times New Roman" panose="02020603050405020304" pitchFamily="18" charset="0"/>
                <a:cs typeface="Times New Roman" panose="02020603050405020304" pitchFamily="18" charset="0"/>
              </a:rPr>
              <a:t>then bind this</a:t>
            </a:r>
            <a:r>
              <a:rPr sz="3600" spc="-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>
                <a:latin typeface="Times New Roman" panose="02020603050405020304" pitchFamily="18" charset="0"/>
                <a:cs typeface="Times New Roman" panose="02020603050405020304" pitchFamily="18" charset="0"/>
              </a:rPr>
              <a:t>trigger</a:t>
            </a:r>
            <a:r>
              <a:rPr sz="3600" spc="-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sz="3600" spc="-5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3600">
                <a:latin typeface="Times New Roman" panose="02020603050405020304" pitchFamily="18" charset="0"/>
                <a:cs typeface="Times New Roman" panose="02020603050405020304" pitchFamily="18" charset="0"/>
              </a:rPr>
              <a:t> a table.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8CABE20-FB7A-C418-859D-132E19A2B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67875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PostgreSQL</a:t>
            </a:r>
            <a:r>
              <a:rPr sz="4400" spc="-90"/>
              <a:t> </a:t>
            </a:r>
            <a:r>
              <a:rPr sz="4400" spc="-5"/>
              <a:t>trigger</a:t>
            </a:r>
            <a:r>
              <a:rPr sz="4400" spc="-15"/>
              <a:t> </a:t>
            </a:r>
            <a:r>
              <a:rPr sz="4400" spc="-5"/>
              <a:t>types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9977120" cy="40356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3600">
                <a:latin typeface="Arial MT"/>
                <a:cs typeface="Arial MT"/>
              </a:rPr>
              <a:t>PostgreSQL</a:t>
            </a:r>
            <a:r>
              <a:rPr sz="3600" spc="-110">
                <a:latin typeface="Arial MT"/>
                <a:cs typeface="Arial MT"/>
              </a:rPr>
              <a:t> </a:t>
            </a:r>
            <a:r>
              <a:rPr sz="3600">
                <a:latin typeface="Arial MT"/>
                <a:cs typeface="Arial MT"/>
              </a:rPr>
              <a:t>provides</a:t>
            </a:r>
            <a:r>
              <a:rPr sz="3600" spc="-10">
                <a:latin typeface="Arial MT"/>
                <a:cs typeface="Arial MT"/>
              </a:rPr>
              <a:t> </a:t>
            </a:r>
            <a:r>
              <a:rPr sz="3600" spc="-5">
                <a:latin typeface="Arial MT"/>
                <a:cs typeface="Arial MT"/>
              </a:rPr>
              <a:t>two </a:t>
            </a:r>
            <a:r>
              <a:rPr sz="3600">
                <a:latin typeface="Arial MT"/>
                <a:cs typeface="Arial MT"/>
              </a:rPr>
              <a:t>main types</a:t>
            </a:r>
            <a:r>
              <a:rPr sz="3600" spc="-10">
                <a:latin typeface="Arial MT"/>
                <a:cs typeface="Arial MT"/>
              </a:rPr>
              <a:t> </a:t>
            </a:r>
            <a:r>
              <a:rPr sz="3600">
                <a:latin typeface="Arial MT"/>
                <a:cs typeface="Arial MT"/>
              </a:rPr>
              <a:t>of</a:t>
            </a:r>
            <a:r>
              <a:rPr sz="3600" spc="-15">
                <a:latin typeface="Arial MT"/>
                <a:cs typeface="Arial MT"/>
              </a:rPr>
              <a:t> </a:t>
            </a:r>
            <a:r>
              <a:rPr sz="3600">
                <a:latin typeface="Arial MT"/>
                <a:cs typeface="Arial MT"/>
              </a:rPr>
              <a:t>triggers:</a:t>
            </a:r>
          </a:p>
          <a:p>
            <a:pPr algn="just">
              <a:lnSpc>
                <a:spcPct val="100000"/>
              </a:lnSpc>
              <a:spcBef>
                <a:spcPts val="30"/>
              </a:spcBef>
            </a:pPr>
            <a:endParaRPr sz="3600">
              <a:latin typeface="Arial MT"/>
              <a:cs typeface="Arial MT"/>
            </a:endParaRPr>
          </a:p>
          <a:p>
            <a:pPr marL="241300" indent="-228600" algn="just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3600">
                <a:latin typeface="Arial MT"/>
                <a:cs typeface="Arial MT"/>
              </a:rPr>
              <a:t>Row-level</a:t>
            </a:r>
            <a:r>
              <a:rPr sz="3600" spc="-30">
                <a:latin typeface="Arial MT"/>
                <a:cs typeface="Arial MT"/>
              </a:rPr>
              <a:t> </a:t>
            </a:r>
            <a:r>
              <a:rPr sz="3600">
                <a:latin typeface="Arial MT"/>
                <a:cs typeface="Arial MT"/>
              </a:rPr>
              <a:t>triggers</a:t>
            </a:r>
          </a:p>
          <a:p>
            <a:pPr marL="241300" indent="-228600" algn="just">
              <a:lnSpc>
                <a:spcPct val="100000"/>
              </a:lnSpc>
              <a:spcBef>
                <a:spcPts val="650"/>
              </a:spcBef>
              <a:buChar char="•"/>
              <a:tabLst>
                <a:tab pos="241300" algn="l"/>
              </a:tabLst>
            </a:pPr>
            <a:r>
              <a:rPr sz="3600">
                <a:latin typeface="Arial MT"/>
                <a:cs typeface="Arial MT"/>
              </a:rPr>
              <a:t>Statement-level</a:t>
            </a:r>
            <a:r>
              <a:rPr sz="3600" spc="-30">
                <a:latin typeface="Arial MT"/>
                <a:cs typeface="Arial MT"/>
              </a:rPr>
              <a:t> </a:t>
            </a:r>
            <a:r>
              <a:rPr sz="3600">
                <a:latin typeface="Arial MT"/>
                <a:cs typeface="Arial MT"/>
              </a:rPr>
              <a:t>triggers.</a:t>
            </a:r>
          </a:p>
          <a:p>
            <a:pPr algn="just">
              <a:lnSpc>
                <a:spcPct val="100000"/>
              </a:lnSpc>
              <a:spcBef>
                <a:spcPts val="10"/>
              </a:spcBef>
            </a:pPr>
            <a:endParaRPr sz="3600">
              <a:latin typeface="Arial MT"/>
              <a:cs typeface="Arial MT"/>
            </a:endParaRPr>
          </a:p>
          <a:p>
            <a:pPr marL="12700" marR="5080" algn="just">
              <a:lnSpc>
                <a:spcPts val="3000"/>
              </a:lnSpc>
            </a:pPr>
            <a:r>
              <a:rPr sz="3600">
                <a:latin typeface="Arial MT"/>
                <a:cs typeface="Arial MT"/>
              </a:rPr>
              <a:t>The </a:t>
            </a:r>
            <a:r>
              <a:rPr sz="3600" spc="-5">
                <a:latin typeface="Arial MT"/>
                <a:cs typeface="Arial MT"/>
              </a:rPr>
              <a:t>differences </a:t>
            </a:r>
            <a:r>
              <a:rPr sz="3600">
                <a:latin typeface="Arial MT"/>
                <a:cs typeface="Arial MT"/>
              </a:rPr>
              <a:t>between the </a:t>
            </a:r>
            <a:r>
              <a:rPr sz="3600" spc="-5">
                <a:latin typeface="Arial MT"/>
                <a:cs typeface="Arial MT"/>
              </a:rPr>
              <a:t>two </a:t>
            </a:r>
            <a:r>
              <a:rPr sz="3600">
                <a:latin typeface="Arial MT"/>
                <a:cs typeface="Arial MT"/>
              </a:rPr>
              <a:t>kinds are how many times the </a:t>
            </a:r>
            <a:r>
              <a:rPr sz="3600" spc="-765">
                <a:latin typeface="Arial MT"/>
                <a:cs typeface="Arial MT"/>
              </a:rPr>
              <a:t> </a:t>
            </a:r>
            <a:r>
              <a:rPr sz="3600">
                <a:latin typeface="Arial MT"/>
                <a:cs typeface="Arial MT"/>
              </a:rPr>
              <a:t>trigger</a:t>
            </a:r>
            <a:r>
              <a:rPr sz="3600" spc="-5">
                <a:latin typeface="Arial MT"/>
                <a:cs typeface="Arial MT"/>
              </a:rPr>
              <a:t> </a:t>
            </a:r>
            <a:r>
              <a:rPr sz="3600">
                <a:latin typeface="Arial MT"/>
                <a:cs typeface="Arial MT"/>
              </a:rPr>
              <a:t>is</a:t>
            </a:r>
            <a:r>
              <a:rPr sz="3600" spc="-5">
                <a:latin typeface="Arial MT"/>
                <a:cs typeface="Arial MT"/>
              </a:rPr>
              <a:t> </a:t>
            </a:r>
            <a:r>
              <a:rPr sz="3600">
                <a:latin typeface="Arial MT"/>
                <a:cs typeface="Arial MT"/>
              </a:rPr>
              <a:t>invoked and at</a:t>
            </a:r>
            <a:r>
              <a:rPr sz="3600" spc="-10">
                <a:latin typeface="Arial MT"/>
                <a:cs typeface="Arial MT"/>
              </a:rPr>
              <a:t> </a:t>
            </a:r>
            <a:r>
              <a:rPr sz="3600">
                <a:latin typeface="Arial MT"/>
                <a:cs typeface="Arial MT"/>
              </a:rPr>
              <a:t>what</a:t>
            </a:r>
            <a:r>
              <a:rPr sz="3600" spc="-10">
                <a:latin typeface="Arial MT"/>
                <a:cs typeface="Arial MT"/>
              </a:rPr>
              <a:t> </a:t>
            </a:r>
            <a:r>
              <a:rPr sz="3600">
                <a:latin typeface="Arial MT"/>
                <a:cs typeface="Arial MT"/>
              </a:rPr>
              <a:t>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586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When</a:t>
            </a:r>
            <a:r>
              <a:rPr sz="4400" spc="-15"/>
              <a:t> </a:t>
            </a:r>
            <a:r>
              <a:rPr sz="4400" spc="-5"/>
              <a:t>to</a:t>
            </a:r>
            <a:r>
              <a:rPr sz="4400" spc="-15"/>
              <a:t> </a:t>
            </a:r>
            <a:r>
              <a:rPr sz="4400"/>
              <a:t>use</a:t>
            </a:r>
            <a:r>
              <a:rPr sz="4400" spc="-10"/>
              <a:t> </a:t>
            </a:r>
            <a:r>
              <a:rPr sz="4400" spc="-5"/>
              <a:t>triggers</a:t>
            </a:r>
            <a:endParaRPr sz="4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6939" y="1795779"/>
            <a:ext cx="10358120" cy="4511875"/>
          </a:xfrm>
          <a:prstGeom prst="rect">
            <a:avLst/>
          </a:prstGeom>
        </p:spPr>
        <p:txBody>
          <a:bodyPr vert="horz" wrap="square" lIns="0" tIns="518032" rIns="0" bIns="0" rtlCol="0">
            <a:spAutoFit/>
          </a:bodyPr>
          <a:lstStyle/>
          <a:p>
            <a:pPr marL="12700" marR="5080" algn="just">
              <a:lnSpc>
                <a:spcPct val="90100"/>
              </a:lnSpc>
              <a:spcBef>
                <a:spcPts val="395"/>
              </a:spcBef>
            </a:pPr>
            <a:r>
              <a:rPr sz="3600" b="1" spc="-20">
                <a:latin typeface="Arial"/>
                <a:cs typeface="Arial"/>
              </a:rPr>
              <a:t>Triggers</a:t>
            </a:r>
            <a:r>
              <a:rPr sz="3600" b="1" spc="-5">
                <a:latin typeface="Arial"/>
                <a:cs typeface="Arial"/>
              </a:rPr>
              <a:t> </a:t>
            </a:r>
            <a:r>
              <a:rPr sz="3600"/>
              <a:t>are </a:t>
            </a:r>
            <a:r>
              <a:rPr sz="3600" spc="-5"/>
              <a:t>useful</a:t>
            </a:r>
            <a:r>
              <a:rPr sz="3600"/>
              <a:t> </a:t>
            </a:r>
            <a:r>
              <a:rPr sz="3600" spc="-5"/>
              <a:t>in</a:t>
            </a:r>
            <a:r>
              <a:rPr sz="3600"/>
              <a:t> </a:t>
            </a:r>
            <a:r>
              <a:rPr sz="3600" spc="-5"/>
              <a:t>case</a:t>
            </a:r>
            <a:r>
              <a:rPr sz="3600"/>
              <a:t> the </a:t>
            </a:r>
            <a:r>
              <a:rPr sz="3600" spc="-5"/>
              <a:t>database</a:t>
            </a:r>
            <a:r>
              <a:rPr sz="3600"/>
              <a:t> </a:t>
            </a:r>
            <a:r>
              <a:rPr sz="3600" spc="-5"/>
              <a:t>is</a:t>
            </a:r>
            <a:r>
              <a:rPr sz="3600" spc="5"/>
              <a:t> </a:t>
            </a:r>
            <a:r>
              <a:rPr sz="3600" spc="-5"/>
              <a:t>accessed</a:t>
            </a:r>
            <a:r>
              <a:rPr sz="3600"/>
              <a:t> </a:t>
            </a:r>
            <a:r>
              <a:rPr sz="3600" spc="-5"/>
              <a:t>by</a:t>
            </a:r>
            <a:r>
              <a:rPr sz="3600" spc="10"/>
              <a:t> </a:t>
            </a:r>
            <a:r>
              <a:rPr sz="3600" spc="-5"/>
              <a:t>various </a:t>
            </a:r>
            <a:r>
              <a:rPr sz="3600"/>
              <a:t> </a:t>
            </a:r>
            <a:r>
              <a:rPr sz="3600" spc="-5"/>
              <a:t>applications,</a:t>
            </a:r>
            <a:r>
              <a:rPr sz="3600" spc="5"/>
              <a:t> </a:t>
            </a:r>
            <a:r>
              <a:rPr sz="3600" spc="-5"/>
              <a:t>and</a:t>
            </a:r>
            <a:r>
              <a:rPr sz="3600"/>
              <a:t> </a:t>
            </a:r>
            <a:r>
              <a:rPr sz="3600" spc="-5"/>
              <a:t>you</a:t>
            </a:r>
            <a:r>
              <a:rPr sz="3600"/>
              <a:t> </a:t>
            </a:r>
            <a:r>
              <a:rPr sz="3600" spc="-5"/>
              <a:t>want</a:t>
            </a:r>
            <a:r>
              <a:rPr sz="3600" spc="10"/>
              <a:t> </a:t>
            </a:r>
            <a:r>
              <a:rPr sz="3600"/>
              <a:t>to </a:t>
            </a:r>
            <a:r>
              <a:rPr sz="3600" spc="-5"/>
              <a:t>keep</a:t>
            </a:r>
            <a:r>
              <a:rPr sz="3600"/>
              <a:t> the </a:t>
            </a:r>
            <a:r>
              <a:rPr sz="3600" spc="-5"/>
              <a:t>cross-functionality</a:t>
            </a:r>
            <a:r>
              <a:rPr sz="3600" spc="5"/>
              <a:t> </a:t>
            </a:r>
            <a:r>
              <a:rPr sz="3600" spc="-5"/>
              <a:t>within</a:t>
            </a:r>
            <a:r>
              <a:rPr sz="3600"/>
              <a:t> the </a:t>
            </a:r>
            <a:r>
              <a:rPr sz="3600" spc="5"/>
              <a:t> </a:t>
            </a:r>
            <a:r>
              <a:rPr sz="3600" spc="-5"/>
              <a:t>database</a:t>
            </a:r>
            <a:r>
              <a:rPr sz="3600"/>
              <a:t> </a:t>
            </a:r>
            <a:r>
              <a:rPr sz="3600" spc="-5"/>
              <a:t>that</a:t>
            </a:r>
            <a:r>
              <a:rPr sz="3600" spc="10"/>
              <a:t> </a:t>
            </a:r>
            <a:r>
              <a:rPr sz="3600" spc="-5"/>
              <a:t>runs</a:t>
            </a:r>
            <a:r>
              <a:rPr sz="3600" spc="5"/>
              <a:t> </a:t>
            </a:r>
            <a:r>
              <a:rPr sz="3600" spc="-5"/>
              <a:t>automatically</a:t>
            </a:r>
            <a:r>
              <a:rPr sz="3600" spc="5"/>
              <a:t> </a:t>
            </a:r>
            <a:r>
              <a:rPr sz="3600" spc="-5"/>
              <a:t>whenever</a:t>
            </a:r>
            <a:r>
              <a:rPr sz="3600" spc="10"/>
              <a:t> </a:t>
            </a:r>
            <a:r>
              <a:rPr sz="3600"/>
              <a:t>the </a:t>
            </a:r>
            <a:r>
              <a:rPr sz="3600" spc="-5"/>
              <a:t>data</a:t>
            </a:r>
            <a:r>
              <a:rPr sz="3600"/>
              <a:t> </a:t>
            </a:r>
            <a:r>
              <a:rPr sz="3600" spc="-5"/>
              <a:t>of</a:t>
            </a:r>
            <a:r>
              <a:rPr sz="3600" spc="10"/>
              <a:t> </a:t>
            </a:r>
            <a:r>
              <a:rPr sz="3600"/>
              <a:t>the</a:t>
            </a:r>
            <a:r>
              <a:rPr sz="3600" spc="5"/>
              <a:t> </a:t>
            </a:r>
            <a:r>
              <a:rPr sz="3600" spc="-5"/>
              <a:t>table</a:t>
            </a:r>
            <a:r>
              <a:rPr sz="3600"/>
              <a:t> </a:t>
            </a:r>
            <a:r>
              <a:rPr sz="3600" spc="-5"/>
              <a:t>is </a:t>
            </a:r>
            <a:r>
              <a:rPr sz="3600"/>
              <a:t> </a:t>
            </a:r>
            <a:r>
              <a:rPr sz="3600" spc="-5"/>
              <a:t>modified.</a:t>
            </a:r>
            <a:r>
              <a:rPr sz="3600" spc="10"/>
              <a:t> </a:t>
            </a:r>
            <a:r>
              <a:rPr sz="3600" spc="-5"/>
              <a:t>For</a:t>
            </a:r>
            <a:r>
              <a:rPr sz="3600" spc="10"/>
              <a:t> </a:t>
            </a:r>
            <a:r>
              <a:rPr sz="3600" spc="-5"/>
              <a:t>example,</a:t>
            </a:r>
            <a:r>
              <a:rPr sz="3600" spc="10"/>
              <a:t> </a:t>
            </a:r>
            <a:r>
              <a:rPr sz="3600" spc="-5"/>
              <a:t>if</a:t>
            </a:r>
            <a:r>
              <a:rPr sz="3600" spc="10"/>
              <a:t> </a:t>
            </a:r>
            <a:r>
              <a:rPr sz="3600" spc="-5"/>
              <a:t>you</a:t>
            </a:r>
            <a:r>
              <a:rPr sz="3600"/>
              <a:t> </a:t>
            </a:r>
            <a:r>
              <a:rPr sz="3600" spc="-5"/>
              <a:t>want</a:t>
            </a:r>
            <a:r>
              <a:rPr sz="3600" spc="10"/>
              <a:t> </a:t>
            </a:r>
            <a:r>
              <a:rPr sz="3600"/>
              <a:t>to </a:t>
            </a:r>
            <a:r>
              <a:rPr sz="3600" spc="-5"/>
              <a:t>keep</a:t>
            </a:r>
            <a:r>
              <a:rPr sz="3600" spc="5"/>
              <a:t> </a:t>
            </a:r>
            <a:r>
              <a:rPr sz="3600"/>
              <a:t>the </a:t>
            </a:r>
            <a:r>
              <a:rPr sz="3600" spc="-5"/>
              <a:t>history</a:t>
            </a:r>
            <a:r>
              <a:rPr sz="3600" spc="5"/>
              <a:t> </a:t>
            </a:r>
            <a:r>
              <a:rPr sz="3600" spc="-5"/>
              <a:t>of</a:t>
            </a:r>
            <a:r>
              <a:rPr sz="3600" spc="10"/>
              <a:t> </a:t>
            </a:r>
            <a:r>
              <a:rPr sz="3600" spc="-5"/>
              <a:t>data</a:t>
            </a:r>
            <a:r>
              <a:rPr sz="3600"/>
              <a:t> </a:t>
            </a:r>
            <a:r>
              <a:rPr sz="3600" spc="-5"/>
              <a:t>without </a:t>
            </a:r>
            <a:r>
              <a:rPr sz="3600"/>
              <a:t> </a:t>
            </a:r>
            <a:r>
              <a:rPr sz="3600" spc="-5"/>
              <a:t>requiring</a:t>
            </a:r>
            <a:r>
              <a:rPr sz="3600"/>
              <a:t> the </a:t>
            </a:r>
            <a:r>
              <a:rPr sz="3600" spc="-5"/>
              <a:t>application</a:t>
            </a:r>
            <a:r>
              <a:rPr sz="3600" spc="5"/>
              <a:t> </a:t>
            </a:r>
            <a:r>
              <a:rPr sz="3600"/>
              <a:t>to </a:t>
            </a:r>
            <a:r>
              <a:rPr sz="3600" spc="-5"/>
              <a:t>have</a:t>
            </a:r>
            <a:r>
              <a:rPr sz="3600" spc="5"/>
              <a:t> </a:t>
            </a:r>
            <a:r>
              <a:rPr sz="3600" spc="-10"/>
              <a:t>logic</a:t>
            </a:r>
            <a:r>
              <a:rPr sz="3600" spc="5"/>
              <a:t> </a:t>
            </a:r>
            <a:r>
              <a:rPr sz="3600"/>
              <a:t>to </a:t>
            </a:r>
            <a:r>
              <a:rPr sz="3600" spc="-5"/>
              <a:t>check</a:t>
            </a:r>
            <a:r>
              <a:rPr sz="3600" spc="10"/>
              <a:t> </a:t>
            </a:r>
            <a:r>
              <a:rPr sz="3600"/>
              <a:t>for</a:t>
            </a:r>
            <a:r>
              <a:rPr sz="3600" spc="10"/>
              <a:t> </a:t>
            </a:r>
            <a:r>
              <a:rPr sz="3600" spc="-5"/>
              <a:t>every</a:t>
            </a:r>
            <a:r>
              <a:rPr sz="3600" spc="10"/>
              <a:t> </a:t>
            </a:r>
            <a:r>
              <a:rPr sz="3600" spc="-5"/>
              <a:t>event</a:t>
            </a:r>
            <a:r>
              <a:rPr sz="3600" spc="10"/>
              <a:t> </a:t>
            </a:r>
            <a:r>
              <a:rPr sz="3600" spc="-5"/>
              <a:t>such</a:t>
            </a:r>
            <a:r>
              <a:rPr sz="3600"/>
              <a:t> </a:t>
            </a:r>
            <a:r>
              <a:rPr sz="3600" spc="-5"/>
              <a:t>as </a:t>
            </a:r>
            <a:r>
              <a:rPr sz="3600" spc="-675"/>
              <a:t> </a:t>
            </a:r>
            <a:r>
              <a:rPr sz="3600" spc="-15"/>
              <a:t>INSERT</a:t>
            </a:r>
            <a:r>
              <a:rPr sz="3600" spc="-50"/>
              <a:t> </a:t>
            </a:r>
            <a:r>
              <a:rPr sz="3600" spc="-5"/>
              <a:t>or</a:t>
            </a:r>
            <a:r>
              <a:rPr sz="3600" spc="10"/>
              <a:t> </a:t>
            </a:r>
            <a:r>
              <a:rPr sz="3600" spc="-60"/>
              <a:t>UDPATE.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5800"/>
            <a:ext cx="979678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5"/>
              <a:t>PostgreSQL</a:t>
            </a:r>
            <a:r>
              <a:rPr sz="3500" spc="-65"/>
              <a:t> </a:t>
            </a:r>
            <a:r>
              <a:rPr sz="3500" spc="-5"/>
              <a:t>triggers</a:t>
            </a:r>
            <a:r>
              <a:rPr sz="3500" spc="5"/>
              <a:t> </a:t>
            </a:r>
            <a:r>
              <a:rPr sz="3500"/>
              <a:t>vs</a:t>
            </a:r>
            <a:r>
              <a:rPr sz="3500" spc="10"/>
              <a:t> </a:t>
            </a:r>
            <a:r>
              <a:rPr sz="3500"/>
              <a:t>SQL</a:t>
            </a:r>
            <a:r>
              <a:rPr sz="3500" spc="-60"/>
              <a:t> </a:t>
            </a:r>
            <a:r>
              <a:rPr sz="3500" spc="-5"/>
              <a:t>standard</a:t>
            </a:r>
            <a:r>
              <a:rPr sz="3500"/>
              <a:t> </a:t>
            </a:r>
            <a:r>
              <a:rPr sz="3500" spc="-5"/>
              <a:t>triggers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916939" y="1794255"/>
            <a:ext cx="10320655" cy="431118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1392555" algn="just">
              <a:lnSpc>
                <a:spcPts val="2710"/>
              </a:lnSpc>
              <a:spcBef>
                <a:spcPts val="430"/>
              </a:spcBef>
            </a:pPr>
            <a:r>
              <a:rPr sz="3200" spc="-5">
                <a:latin typeface="Arial MT"/>
                <a:cs typeface="Arial MT"/>
              </a:rPr>
              <a:t>Even though PostgreSQL implements </a:t>
            </a:r>
            <a:r>
              <a:rPr sz="3200">
                <a:latin typeface="Arial MT"/>
                <a:cs typeface="Arial MT"/>
              </a:rPr>
              <a:t>SQL </a:t>
            </a:r>
            <a:r>
              <a:rPr sz="3200" spc="-5">
                <a:latin typeface="Arial MT"/>
                <a:cs typeface="Arial MT"/>
              </a:rPr>
              <a:t>standard, triggers in </a:t>
            </a:r>
            <a:r>
              <a:rPr sz="3200" spc="-685">
                <a:latin typeface="Arial MT"/>
                <a:cs typeface="Arial MT"/>
              </a:rPr>
              <a:t> </a:t>
            </a:r>
            <a:r>
              <a:rPr sz="3200" spc="-5">
                <a:latin typeface="Arial MT"/>
                <a:cs typeface="Arial MT"/>
              </a:rPr>
              <a:t>PostgreSQL</a:t>
            </a:r>
            <a:r>
              <a:rPr sz="3200" spc="-90">
                <a:latin typeface="Arial MT"/>
                <a:cs typeface="Arial MT"/>
              </a:rPr>
              <a:t> </a:t>
            </a:r>
            <a:r>
              <a:rPr sz="3200" spc="-5">
                <a:latin typeface="Arial MT"/>
                <a:cs typeface="Arial MT"/>
              </a:rPr>
              <a:t>has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some </a:t>
            </a:r>
            <a:r>
              <a:rPr sz="3200" spc="-5">
                <a:latin typeface="Arial MT"/>
                <a:cs typeface="Arial MT"/>
              </a:rPr>
              <a:t>specific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 spc="-5">
                <a:latin typeface="Arial MT"/>
                <a:cs typeface="Arial MT"/>
              </a:rPr>
              <a:t>features:</a:t>
            </a:r>
            <a:endParaRPr sz="3200">
              <a:latin typeface="Arial MT"/>
              <a:cs typeface="Arial MT"/>
            </a:endParaRPr>
          </a:p>
          <a:p>
            <a:pPr marL="241300" indent="-228600" algn="just">
              <a:lnSpc>
                <a:spcPct val="100000"/>
              </a:lnSpc>
              <a:spcBef>
                <a:spcPts val="1480"/>
              </a:spcBef>
              <a:buChar char="•"/>
              <a:tabLst>
                <a:tab pos="241300" algn="l"/>
              </a:tabLst>
            </a:pPr>
            <a:r>
              <a:rPr sz="3200" spc="-5">
                <a:latin typeface="Arial MT"/>
                <a:cs typeface="Arial MT"/>
              </a:rPr>
              <a:t>PostgreSQL</a:t>
            </a:r>
            <a:r>
              <a:rPr sz="3200" spc="-90">
                <a:latin typeface="Arial MT"/>
                <a:cs typeface="Arial MT"/>
              </a:rPr>
              <a:t> </a:t>
            </a:r>
            <a:r>
              <a:rPr sz="3200" spc="-5">
                <a:latin typeface="Arial MT"/>
                <a:cs typeface="Arial MT"/>
              </a:rPr>
              <a:t>fires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 spc="-5">
                <a:latin typeface="Arial MT"/>
                <a:cs typeface="Arial MT"/>
              </a:rPr>
              <a:t>trigger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for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-45">
                <a:latin typeface="Arial MT"/>
                <a:cs typeface="Arial MT"/>
              </a:rPr>
              <a:t> </a:t>
            </a:r>
            <a:r>
              <a:rPr sz="3200" spc="-30">
                <a:latin typeface="Arial MT"/>
                <a:cs typeface="Arial MT"/>
              </a:rPr>
              <a:t>TRUNCATE</a:t>
            </a:r>
            <a:r>
              <a:rPr sz="3200">
                <a:latin typeface="Arial MT"/>
                <a:cs typeface="Arial MT"/>
              </a:rPr>
              <a:t> </a:t>
            </a:r>
            <a:r>
              <a:rPr sz="3200" spc="-5">
                <a:latin typeface="Arial MT"/>
                <a:cs typeface="Arial MT"/>
              </a:rPr>
              <a:t>event.</a:t>
            </a:r>
            <a:endParaRPr sz="3200">
              <a:latin typeface="Arial MT"/>
              <a:cs typeface="Arial MT"/>
            </a:endParaRPr>
          </a:p>
          <a:p>
            <a:pPr marL="241300" indent="-228600" algn="just">
              <a:lnSpc>
                <a:spcPct val="100000"/>
              </a:lnSpc>
              <a:spcBef>
                <a:spcPts val="695"/>
              </a:spcBef>
              <a:buChar char="•"/>
              <a:tabLst>
                <a:tab pos="241300" algn="l"/>
              </a:tabLst>
            </a:pPr>
            <a:r>
              <a:rPr sz="3200" spc="-5">
                <a:latin typeface="Arial MT"/>
                <a:cs typeface="Arial MT"/>
              </a:rPr>
              <a:t>PostgreSQL</a:t>
            </a:r>
            <a:r>
              <a:rPr sz="3200" spc="-85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allows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 spc="-5">
                <a:latin typeface="Arial MT"/>
                <a:cs typeface="Arial MT"/>
              </a:rPr>
              <a:t>you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to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 spc="-5">
                <a:latin typeface="Arial MT"/>
                <a:cs typeface="Arial MT"/>
              </a:rPr>
              <a:t>define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 spc="-5">
                <a:latin typeface="Arial MT"/>
                <a:cs typeface="Arial MT"/>
              </a:rPr>
              <a:t>statement-level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 spc="-5">
                <a:latin typeface="Arial MT"/>
                <a:cs typeface="Arial MT"/>
              </a:rPr>
              <a:t>trigger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 spc="-5">
                <a:latin typeface="Arial MT"/>
                <a:cs typeface="Arial MT"/>
              </a:rPr>
              <a:t>on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 spc="-5">
                <a:latin typeface="Arial MT"/>
                <a:cs typeface="Arial MT"/>
              </a:rPr>
              <a:t>views.</a:t>
            </a:r>
            <a:endParaRPr sz="3200">
              <a:latin typeface="Arial MT"/>
              <a:cs typeface="Arial MT"/>
            </a:endParaRPr>
          </a:p>
          <a:p>
            <a:pPr marL="241300" marR="5080" indent="-228600" algn="just">
              <a:lnSpc>
                <a:spcPct val="90000"/>
              </a:lnSpc>
              <a:spcBef>
                <a:spcPts val="994"/>
              </a:spcBef>
              <a:buChar char="•"/>
              <a:tabLst>
                <a:tab pos="241300" algn="l"/>
              </a:tabLst>
            </a:pPr>
            <a:r>
              <a:rPr sz="3200" spc="-5">
                <a:latin typeface="Arial MT"/>
                <a:cs typeface="Arial MT"/>
              </a:rPr>
              <a:t>PostgreSQL</a:t>
            </a:r>
            <a:r>
              <a:rPr sz="3200" spc="-85">
                <a:latin typeface="Arial MT"/>
                <a:cs typeface="Arial MT"/>
              </a:rPr>
              <a:t> </a:t>
            </a:r>
            <a:r>
              <a:rPr sz="3200" spc="-5">
                <a:latin typeface="Arial MT"/>
                <a:cs typeface="Arial MT"/>
              </a:rPr>
              <a:t>requires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 spc="-5">
                <a:latin typeface="Arial MT"/>
                <a:cs typeface="Arial MT"/>
              </a:rPr>
              <a:t>you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to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 spc="-5">
                <a:latin typeface="Arial MT"/>
                <a:cs typeface="Arial MT"/>
              </a:rPr>
              <a:t>define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 spc="-5">
                <a:latin typeface="Arial MT"/>
                <a:cs typeface="Arial MT"/>
              </a:rPr>
              <a:t>user-defined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 spc="-5">
                <a:latin typeface="Arial MT"/>
                <a:cs typeface="Arial MT"/>
              </a:rPr>
              <a:t>function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 spc="-5">
                <a:latin typeface="Arial MT"/>
                <a:cs typeface="Arial MT"/>
              </a:rPr>
              <a:t>as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 spc="-5">
                <a:latin typeface="Arial MT"/>
                <a:cs typeface="Arial MT"/>
              </a:rPr>
              <a:t>action </a:t>
            </a:r>
            <a:r>
              <a:rPr sz="3200" spc="-680">
                <a:latin typeface="Arial MT"/>
                <a:cs typeface="Arial MT"/>
              </a:rPr>
              <a:t> </a:t>
            </a:r>
            <a:r>
              <a:rPr sz="3200" spc="-5">
                <a:latin typeface="Arial MT"/>
                <a:cs typeface="Arial MT"/>
              </a:rPr>
              <a:t>of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 </a:t>
            </a:r>
            <a:r>
              <a:rPr sz="3200" spc="-20">
                <a:latin typeface="Arial MT"/>
                <a:cs typeface="Arial MT"/>
              </a:rPr>
              <a:t>trigger,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while</a:t>
            </a:r>
            <a:r>
              <a:rPr sz="3200">
                <a:latin typeface="Arial MT"/>
                <a:cs typeface="Arial MT"/>
              </a:rPr>
              <a:t> the SQL</a:t>
            </a:r>
            <a:r>
              <a:rPr sz="3200" spc="-90">
                <a:latin typeface="Arial MT"/>
                <a:cs typeface="Arial MT"/>
              </a:rPr>
              <a:t> </a:t>
            </a:r>
            <a:r>
              <a:rPr sz="3200" spc="-5">
                <a:latin typeface="Arial MT"/>
                <a:cs typeface="Arial MT"/>
              </a:rPr>
              <a:t>standard</a:t>
            </a:r>
            <a:r>
              <a:rPr sz="320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allows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 spc="-5">
                <a:latin typeface="Arial MT"/>
                <a:cs typeface="Arial MT"/>
              </a:rPr>
              <a:t>you</a:t>
            </a:r>
            <a:r>
              <a:rPr sz="3200">
                <a:latin typeface="Arial MT"/>
                <a:cs typeface="Arial MT"/>
              </a:rPr>
              <a:t> to </a:t>
            </a:r>
            <a:r>
              <a:rPr sz="3200" spc="-5">
                <a:latin typeface="Arial MT"/>
                <a:cs typeface="Arial MT"/>
              </a:rPr>
              <a:t>use</a:t>
            </a:r>
            <a:r>
              <a:rPr sz="3200">
                <a:latin typeface="Arial MT"/>
                <a:cs typeface="Arial MT"/>
              </a:rPr>
              <a:t> </a:t>
            </a:r>
            <a:r>
              <a:rPr sz="3200" spc="-5">
                <a:latin typeface="Arial MT"/>
                <a:cs typeface="Arial MT"/>
              </a:rPr>
              <a:t>any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SQL 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 spc="-5">
                <a:latin typeface="Arial MT"/>
                <a:cs typeface="Arial MT"/>
              </a:rPr>
              <a:t>commands.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836040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PostgreSQL</a:t>
            </a:r>
            <a:r>
              <a:rPr sz="4400" spc="-90"/>
              <a:t> </a:t>
            </a:r>
            <a:r>
              <a:rPr sz="4400" spc="-60"/>
              <a:t>CREATE</a:t>
            </a:r>
            <a:r>
              <a:rPr sz="4400" spc="-5"/>
              <a:t> TRIGGER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32788"/>
            <a:ext cx="9069070" cy="406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">
                <a:latin typeface="Arial MT"/>
                <a:cs typeface="Arial MT"/>
              </a:rPr>
              <a:t>The</a:t>
            </a:r>
            <a:r>
              <a:rPr sz="2600" spc="10">
                <a:latin typeface="Arial MT"/>
                <a:cs typeface="Arial MT"/>
              </a:rPr>
              <a:t> </a:t>
            </a:r>
            <a:r>
              <a:rPr sz="2600" spc="-5">
                <a:latin typeface="Arial MT"/>
                <a:cs typeface="Arial MT"/>
              </a:rPr>
              <a:t>following</a:t>
            </a:r>
            <a:r>
              <a:rPr sz="2600" spc="15">
                <a:latin typeface="Arial MT"/>
                <a:cs typeface="Arial MT"/>
              </a:rPr>
              <a:t> </a:t>
            </a:r>
            <a:r>
              <a:rPr sz="2600" spc="-5">
                <a:latin typeface="Arial MT"/>
                <a:cs typeface="Arial MT"/>
              </a:rPr>
              <a:t>illustrates</a:t>
            </a:r>
            <a:r>
              <a:rPr sz="2600" spc="5">
                <a:latin typeface="Arial MT"/>
                <a:cs typeface="Arial MT"/>
              </a:rPr>
              <a:t> </a:t>
            </a:r>
            <a:r>
              <a:rPr sz="2600">
                <a:latin typeface="Arial MT"/>
                <a:cs typeface="Arial MT"/>
              </a:rPr>
              <a:t>the</a:t>
            </a:r>
            <a:r>
              <a:rPr sz="2600" spc="15">
                <a:latin typeface="Arial MT"/>
                <a:cs typeface="Arial MT"/>
              </a:rPr>
              <a:t> </a:t>
            </a:r>
            <a:r>
              <a:rPr sz="2600">
                <a:latin typeface="Arial MT"/>
                <a:cs typeface="Arial MT"/>
              </a:rPr>
              <a:t>syntax</a:t>
            </a:r>
            <a:r>
              <a:rPr sz="2600" spc="5">
                <a:latin typeface="Arial MT"/>
                <a:cs typeface="Arial MT"/>
              </a:rPr>
              <a:t> </a:t>
            </a:r>
            <a:r>
              <a:rPr sz="2600">
                <a:latin typeface="Arial MT"/>
                <a:cs typeface="Arial MT"/>
              </a:rPr>
              <a:t>of</a:t>
            </a:r>
            <a:r>
              <a:rPr sz="2600" spc="15">
                <a:latin typeface="Arial MT"/>
                <a:cs typeface="Arial MT"/>
              </a:rPr>
              <a:t> </a:t>
            </a:r>
            <a:r>
              <a:rPr sz="2600" spc="-5">
                <a:latin typeface="Arial MT"/>
                <a:cs typeface="Arial MT"/>
              </a:rPr>
              <a:t>creating</a:t>
            </a:r>
            <a:r>
              <a:rPr sz="2600" spc="10">
                <a:latin typeface="Arial MT"/>
                <a:cs typeface="Arial MT"/>
              </a:rPr>
              <a:t> </a:t>
            </a:r>
            <a:r>
              <a:rPr sz="2600" spc="-5">
                <a:latin typeface="Arial MT"/>
                <a:cs typeface="Arial MT"/>
              </a:rPr>
              <a:t>trigger</a:t>
            </a:r>
            <a:r>
              <a:rPr sz="2600" spc="5">
                <a:latin typeface="Arial MT"/>
                <a:cs typeface="Arial MT"/>
              </a:rPr>
              <a:t> </a:t>
            </a:r>
            <a:r>
              <a:rPr sz="2600" spc="-5">
                <a:latin typeface="Arial MT"/>
                <a:cs typeface="Arial MT"/>
              </a:rPr>
              <a:t>function: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Arial MT"/>
              <a:cs typeface="Arial MT"/>
            </a:endParaRPr>
          </a:p>
          <a:p>
            <a:pPr marL="288925" marR="3345179" indent="-276225">
              <a:lnSpc>
                <a:spcPct val="103099"/>
              </a:lnSpc>
            </a:pPr>
            <a:r>
              <a:rPr sz="2600" spc="-35">
                <a:latin typeface="Arial MT"/>
                <a:cs typeface="Arial MT"/>
              </a:rPr>
              <a:t>CREATE</a:t>
            </a:r>
            <a:r>
              <a:rPr sz="2600" spc="-5">
                <a:latin typeface="Arial MT"/>
                <a:cs typeface="Arial MT"/>
              </a:rPr>
              <a:t> FUNCTION</a:t>
            </a:r>
            <a:r>
              <a:rPr sz="2600" spc="-15">
                <a:latin typeface="Arial MT"/>
                <a:cs typeface="Arial MT"/>
              </a:rPr>
              <a:t> </a:t>
            </a:r>
            <a:r>
              <a:rPr sz="2600" spc="-5">
                <a:latin typeface="Arial MT"/>
                <a:cs typeface="Arial MT"/>
              </a:rPr>
              <a:t>trigger_function() </a:t>
            </a:r>
            <a:r>
              <a:rPr sz="2600" spc="-710">
                <a:latin typeface="Arial MT"/>
                <a:cs typeface="Arial MT"/>
              </a:rPr>
              <a:t> </a:t>
            </a:r>
            <a:r>
              <a:rPr sz="2600" spc="-5">
                <a:latin typeface="Arial MT"/>
                <a:cs typeface="Arial MT"/>
              </a:rPr>
              <a:t>RETURNS</a:t>
            </a:r>
            <a:r>
              <a:rPr sz="2600" spc="-45">
                <a:latin typeface="Arial MT"/>
                <a:cs typeface="Arial MT"/>
              </a:rPr>
              <a:t> </a:t>
            </a:r>
            <a:r>
              <a:rPr sz="2600" spc="-5">
                <a:latin typeface="Arial MT"/>
                <a:cs typeface="Arial MT"/>
              </a:rPr>
              <a:t>TRIGGER</a:t>
            </a:r>
            <a:endParaRPr sz="2600">
              <a:latin typeface="Arial MT"/>
              <a:cs typeface="Arial MT"/>
            </a:endParaRPr>
          </a:p>
          <a:p>
            <a:pPr marL="288925">
              <a:lnSpc>
                <a:spcPct val="100000"/>
              </a:lnSpc>
              <a:spcBef>
                <a:spcPts val="70"/>
              </a:spcBef>
            </a:pPr>
            <a:r>
              <a:rPr sz="2600" spc="-5">
                <a:latin typeface="Arial MT"/>
                <a:cs typeface="Arial MT"/>
              </a:rPr>
              <a:t>LANGUAGE</a:t>
            </a:r>
            <a:r>
              <a:rPr sz="2600" spc="-30">
                <a:latin typeface="Arial MT"/>
                <a:cs typeface="Arial MT"/>
              </a:rPr>
              <a:t> </a:t>
            </a:r>
            <a:r>
              <a:rPr sz="2600">
                <a:latin typeface="Arial MT"/>
                <a:cs typeface="Arial MT"/>
              </a:rPr>
              <a:t>PLPGSQL</a:t>
            </a:r>
          </a:p>
          <a:p>
            <a:pPr marL="12700" marR="8019415">
              <a:lnSpc>
                <a:spcPts val="3100"/>
              </a:lnSpc>
              <a:spcBef>
                <a:spcPts val="195"/>
              </a:spcBef>
            </a:pPr>
            <a:r>
              <a:rPr sz="2600">
                <a:latin typeface="Arial MT"/>
                <a:cs typeface="Arial MT"/>
              </a:rPr>
              <a:t>AS $$ </a:t>
            </a:r>
            <a:r>
              <a:rPr sz="2600" spc="5">
                <a:latin typeface="Arial MT"/>
                <a:cs typeface="Arial MT"/>
              </a:rPr>
              <a:t> </a:t>
            </a:r>
            <a:r>
              <a:rPr sz="2600">
                <a:latin typeface="Arial MT"/>
                <a:cs typeface="Arial MT"/>
              </a:rPr>
              <a:t>BEGIN</a:t>
            </a:r>
          </a:p>
          <a:p>
            <a:pPr marL="12700" marR="6752590" indent="276225">
              <a:lnSpc>
                <a:spcPts val="3190"/>
              </a:lnSpc>
              <a:spcBef>
                <a:spcPts val="40"/>
              </a:spcBef>
            </a:pPr>
            <a:r>
              <a:rPr sz="2600" spc="-5">
                <a:latin typeface="Arial MT"/>
                <a:cs typeface="Arial MT"/>
              </a:rPr>
              <a:t>--</a:t>
            </a:r>
            <a:r>
              <a:rPr sz="2600" spc="-35">
                <a:latin typeface="Arial MT"/>
                <a:cs typeface="Arial MT"/>
              </a:rPr>
              <a:t> </a:t>
            </a:r>
            <a:r>
              <a:rPr sz="2600" spc="-5">
                <a:latin typeface="Arial MT"/>
                <a:cs typeface="Arial MT"/>
              </a:rPr>
              <a:t>trigger</a:t>
            </a:r>
            <a:r>
              <a:rPr sz="2600" spc="-30">
                <a:latin typeface="Arial MT"/>
                <a:cs typeface="Arial MT"/>
              </a:rPr>
              <a:t> </a:t>
            </a:r>
            <a:r>
              <a:rPr sz="2600" spc="-5">
                <a:latin typeface="Arial MT"/>
                <a:cs typeface="Arial MT"/>
              </a:rPr>
              <a:t>logic </a:t>
            </a:r>
            <a:r>
              <a:rPr sz="2600" spc="-710">
                <a:latin typeface="Arial MT"/>
                <a:cs typeface="Arial MT"/>
              </a:rPr>
              <a:t> </a:t>
            </a:r>
            <a:r>
              <a:rPr sz="2600" spc="-5">
                <a:latin typeface="Arial MT"/>
                <a:cs typeface="Arial MT"/>
              </a:rPr>
              <a:t>END;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ts val="3075"/>
              </a:lnSpc>
            </a:pPr>
            <a:r>
              <a:rPr sz="2600">
                <a:latin typeface="Arial MT"/>
                <a:cs typeface="Arial MT"/>
              </a:rPr>
              <a:t>$$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526795"/>
            <a:ext cx="8505825" cy="90043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3290"/>
              </a:lnSpc>
              <a:spcBef>
                <a:spcPts val="465"/>
              </a:spcBef>
            </a:pPr>
            <a:r>
              <a:rPr sz="3000" spc="-5"/>
              <a:t>Introduction</a:t>
            </a:r>
            <a:r>
              <a:rPr sz="3000"/>
              <a:t> to</a:t>
            </a:r>
            <a:r>
              <a:rPr sz="3000" spc="5"/>
              <a:t> </a:t>
            </a:r>
            <a:r>
              <a:rPr sz="3000" spc="-5"/>
              <a:t>PostgreSQL</a:t>
            </a:r>
            <a:r>
              <a:rPr sz="3000" spc="-50"/>
              <a:t> </a:t>
            </a:r>
            <a:r>
              <a:rPr sz="3000" spc="-40"/>
              <a:t>CREATE</a:t>
            </a:r>
            <a:r>
              <a:rPr sz="3000"/>
              <a:t> </a:t>
            </a:r>
            <a:r>
              <a:rPr sz="3000" spc="-5"/>
              <a:t>TRIGGER </a:t>
            </a:r>
            <a:r>
              <a:rPr sz="3000" spc="-819"/>
              <a:t> </a:t>
            </a:r>
            <a:r>
              <a:rPr sz="3000" spc="-10"/>
              <a:t>statement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9881235" cy="428688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500"/>
              </a:spcBef>
            </a:pPr>
            <a:r>
              <a:rPr sz="2800">
                <a:latin typeface="Arial MT"/>
                <a:cs typeface="Arial MT"/>
              </a:rPr>
              <a:t>The </a:t>
            </a:r>
            <a:r>
              <a:rPr sz="2800" b="1" spc="-40">
                <a:latin typeface="Arial"/>
                <a:cs typeface="Arial"/>
              </a:rPr>
              <a:t>CREATE </a:t>
            </a:r>
            <a:r>
              <a:rPr sz="2800" b="1" spc="-5">
                <a:latin typeface="Arial"/>
                <a:cs typeface="Arial"/>
              </a:rPr>
              <a:t>TRIGGER </a:t>
            </a:r>
            <a:r>
              <a:rPr sz="2800">
                <a:latin typeface="Arial MT"/>
                <a:cs typeface="Arial MT"/>
              </a:rPr>
              <a:t>statement creates a new </a:t>
            </a:r>
            <a:r>
              <a:rPr sz="2800" spc="-20">
                <a:latin typeface="Arial MT"/>
                <a:cs typeface="Arial MT"/>
              </a:rPr>
              <a:t>trigger. </a:t>
            </a:r>
            <a:r>
              <a:rPr sz="2800">
                <a:latin typeface="Arial MT"/>
                <a:cs typeface="Arial MT"/>
              </a:rPr>
              <a:t>The </a:t>
            </a:r>
            <a:r>
              <a:rPr sz="2800" spc="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following illustrates the basic syntax of the </a:t>
            </a:r>
            <a:r>
              <a:rPr sz="2800" spc="-40">
                <a:latin typeface="Arial MT"/>
                <a:cs typeface="Arial MT"/>
              </a:rPr>
              <a:t>CREATE </a:t>
            </a:r>
            <a:r>
              <a:rPr sz="2800" spc="-5">
                <a:latin typeface="Arial MT"/>
                <a:cs typeface="Arial MT"/>
              </a:rPr>
              <a:t>TRIGGER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statement: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800" spc="-40">
                <a:latin typeface="Arial MT"/>
                <a:cs typeface="Arial MT"/>
              </a:rPr>
              <a:t>CREATE</a:t>
            </a:r>
            <a:r>
              <a:rPr sz="2800" spc="-80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TRIGGER</a:t>
            </a:r>
            <a:r>
              <a:rPr sz="2800" spc="-2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trigger_name</a:t>
            </a:r>
          </a:p>
          <a:p>
            <a:pPr marL="307975">
              <a:lnSpc>
                <a:spcPct val="100000"/>
              </a:lnSpc>
              <a:spcBef>
                <a:spcPts val="645"/>
              </a:spcBef>
            </a:pPr>
            <a:r>
              <a:rPr sz="2800" spc="-5">
                <a:latin typeface="Arial MT"/>
                <a:cs typeface="Arial MT"/>
              </a:rPr>
              <a:t>{BEFORE</a:t>
            </a:r>
            <a:r>
              <a:rPr sz="2800" spc="-2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|</a:t>
            </a:r>
            <a:r>
              <a:rPr sz="2800" spc="-16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AFTER}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{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event</a:t>
            </a:r>
            <a:r>
              <a:rPr sz="2800" spc="-2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}</a:t>
            </a:r>
          </a:p>
          <a:p>
            <a:pPr marL="307975">
              <a:lnSpc>
                <a:spcPct val="100000"/>
              </a:lnSpc>
              <a:spcBef>
                <a:spcPts val="650"/>
              </a:spcBef>
            </a:pPr>
            <a:r>
              <a:rPr sz="2800" spc="-5">
                <a:latin typeface="Arial MT"/>
                <a:cs typeface="Arial MT"/>
              </a:rPr>
              <a:t>ON</a:t>
            </a:r>
            <a:r>
              <a:rPr sz="2800" spc="-4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table_name</a:t>
            </a:r>
          </a:p>
          <a:p>
            <a:pPr marL="307975">
              <a:lnSpc>
                <a:spcPct val="100000"/>
              </a:lnSpc>
              <a:spcBef>
                <a:spcPts val="625"/>
              </a:spcBef>
            </a:pPr>
            <a:r>
              <a:rPr sz="2800" spc="-5">
                <a:latin typeface="Arial MT"/>
                <a:cs typeface="Arial MT"/>
              </a:rPr>
              <a:t>[FOR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[EACH]</a:t>
            </a:r>
            <a:r>
              <a:rPr sz="2800" spc="-2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{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ROW</a:t>
            </a:r>
            <a:r>
              <a:rPr sz="2800" spc="-2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|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 spc="-50">
                <a:latin typeface="Arial MT"/>
                <a:cs typeface="Arial MT"/>
              </a:rPr>
              <a:t>STATEMENT</a:t>
            </a:r>
            <a:r>
              <a:rPr sz="2800" spc="-6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}]</a:t>
            </a:r>
          </a:p>
          <a:p>
            <a:pPr marL="701675">
              <a:lnSpc>
                <a:spcPct val="100000"/>
              </a:lnSpc>
              <a:spcBef>
                <a:spcPts val="745"/>
              </a:spcBef>
            </a:pPr>
            <a:r>
              <a:rPr sz="2800" spc="-5">
                <a:latin typeface="Arial MT"/>
                <a:cs typeface="Arial MT"/>
              </a:rPr>
              <a:t>EXECUTE</a:t>
            </a:r>
            <a:r>
              <a:rPr sz="2800" spc="-20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PROCEDURE</a:t>
            </a:r>
            <a:r>
              <a:rPr sz="2800" spc="-2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trigger_function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7539"/>
            <a:ext cx="97726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/>
              <a:t>PostgreSQL</a:t>
            </a:r>
            <a:r>
              <a:rPr spc="-95"/>
              <a:t> </a:t>
            </a:r>
            <a:r>
              <a:rPr spc="-55"/>
              <a:t>CREATE</a:t>
            </a:r>
            <a:r>
              <a:rPr spc="-20"/>
              <a:t> </a:t>
            </a:r>
            <a:r>
              <a:rPr spc="-5"/>
              <a:t>TRIGGER</a:t>
            </a:r>
            <a:r>
              <a:rPr spc="-20"/>
              <a:t> </a:t>
            </a:r>
            <a:r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7363459" cy="40214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800" spc="-5">
                <a:latin typeface="Arial MT"/>
                <a:cs typeface="Arial MT"/>
              </a:rPr>
              <a:t>DROP</a:t>
            </a:r>
            <a:r>
              <a:rPr sz="2800" spc="-114">
                <a:latin typeface="Arial MT"/>
                <a:cs typeface="Arial MT"/>
              </a:rPr>
              <a:t> </a:t>
            </a:r>
            <a:r>
              <a:rPr sz="2800" spc="-45">
                <a:latin typeface="Arial MT"/>
                <a:cs typeface="Arial MT"/>
              </a:rPr>
              <a:t>TABLE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IF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EXISTS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employees;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00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</a:pPr>
            <a:r>
              <a:rPr sz="2800" spc="-40">
                <a:latin typeface="Arial MT"/>
                <a:cs typeface="Arial MT"/>
              </a:rPr>
              <a:t>CREATE</a:t>
            </a:r>
            <a:r>
              <a:rPr sz="2800" spc="-75">
                <a:latin typeface="Arial MT"/>
                <a:cs typeface="Arial MT"/>
              </a:rPr>
              <a:t> </a:t>
            </a:r>
            <a:r>
              <a:rPr sz="2800" spc="-45">
                <a:latin typeface="Arial MT"/>
                <a:cs typeface="Arial MT"/>
              </a:rPr>
              <a:t>TABLE</a:t>
            </a:r>
            <a:r>
              <a:rPr sz="2800" spc="-2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employees(</a:t>
            </a:r>
          </a:p>
          <a:p>
            <a:pPr marL="307975" algn="just">
              <a:lnSpc>
                <a:spcPct val="100000"/>
              </a:lnSpc>
              <a:spcBef>
                <a:spcPts val="650"/>
              </a:spcBef>
            </a:pPr>
            <a:r>
              <a:rPr sz="2800">
                <a:latin typeface="Arial MT"/>
                <a:cs typeface="Arial MT"/>
              </a:rPr>
              <a:t>id </a:t>
            </a:r>
            <a:r>
              <a:rPr sz="2800" spc="-5">
                <a:latin typeface="Arial MT"/>
                <a:cs typeface="Arial MT"/>
              </a:rPr>
              <a:t>I</a:t>
            </a:r>
            <a:r>
              <a:rPr sz="2800">
                <a:latin typeface="Arial MT"/>
                <a:cs typeface="Arial MT"/>
              </a:rPr>
              <a:t>NT</a:t>
            </a:r>
            <a:r>
              <a:rPr sz="2800" spc="-50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GE</a:t>
            </a:r>
            <a:r>
              <a:rPr sz="2800">
                <a:latin typeface="Arial MT"/>
                <a:cs typeface="Arial MT"/>
              </a:rPr>
              <a:t>N</a:t>
            </a:r>
            <a:r>
              <a:rPr sz="2800" spc="-10">
                <a:latin typeface="Arial MT"/>
                <a:cs typeface="Arial MT"/>
              </a:rPr>
              <a:t>E</a:t>
            </a:r>
            <a:r>
              <a:rPr sz="2800">
                <a:latin typeface="Arial MT"/>
                <a:cs typeface="Arial MT"/>
              </a:rPr>
              <a:t>R</a:t>
            </a:r>
            <a:r>
              <a:rPr sz="2800" spc="-215">
                <a:latin typeface="Arial MT"/>
                <a:cs typeface="Arial MT"/>
              </a:rPr>
              <a:t>A</a:t>
            </a:r>
            <a:r>
              <a:rPr sz="2800">
                <a:latin typeface="Arial MT"/>
                <a:cs typeface="Arial MT"/>
              </a:rPr>
              <a:t>T</a:t>
            </a:r>
            <a:r>
              <a:rPr sz="2800" spc="-5">
                <a:latin typeface="Arial MT"/>
                <a:cs typeface="Arial MT"/>
              </a:rPr>
              <a:t>E</a:t>
            </a:r>
            <a:r>
              <a:rPr sz="2800">
                <a:latin typeface="Arial MT"/>
                <a:cs typeface="Arial MT"/>
              </a:rPr>
              <a:t>D</a:t>
            </a:r>
            <a:r>
              <a:rPr sz="2800" spc="-15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A</a:t>
            </a:r>
            <a:r>
              <a:rPr sz="2800" spc="-204">
                <a:latin typeface="Arial MT"/>
                <a:cs typeface="Arial MT"/>
              </a:rPr>
              <a:t>L</a:t>
            </a:r>
            <a:r>
              <a:rPr sz="2800" spc="-110">
                <a:latin typeface="Arial MT"/>
                <a:cs typeface="Arial MT"/>
              </a:rPr>
              <a:t>W</a:t>
            </a:r>
            <a:r>
              <a:rPr sz="2800" spc="-215">
                <a:latin typeface="Arial MT"/>
                <a:cs typeface="Arial MT"/>
              </a:rPr>
              <a:t>A</a:t>
            </a:r>
            <a:r>
              <a:rPr sz="2800" spc="-5">
                <a:latin typeface="Arial MT"/>
                <a:cs typeface="Arial MT"/>
              </a:rPr>
              <a:t>Y</a:t>
            </a:r>
            <a:r>
              <a:rPr sz="2800">
                <a:latin typeface="Arial MT"/>
                <a:cs typeface="Arial MT"/>
              </a:rPr>
              <a:t>S</a:t>
            </a:r>
            <a:r>
              <a:rPr sz="2800" spc="-16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A</a:t>
            </a:r>
            <a:r>
              <a:rPr sz="2800">
                <a:latin typeface="Arial MT"/>
                <a:cs typeface="Arial MT"/>
              </a:rPr>
              <a:t>S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I</a:t>
            </a:r>
            <a:r>
              <a:rPr sz="2800">
                <a:latin typeface="Arial MT"/>
                <a:cs typeface="Arial MT"/>
              </a:rPr>
              <a:t>D</a:t>
            </a:r>
            <a:r>
              <a:rPr sz="2800" spc="-10">
                <a:latin typeface="Arial MT"/>
                <a:cs typeface="Arial MT"/>
              </a:rPr>
              <a:t>E</a:t>
            </a:r>
            <a:r>
              <a:rPr sz="2800">
                <a:latin typeface="Arial MT"/>
                <a:cs typeface="Arial MT"/>
              </a:rPr>
              <a:t>NT</a:t>
            </a:r>
            <a:r>
              <a:rPr sz="2800" spc="-5">
                <a:latin typeface="Arial MT"/>
                <a:cs typeface="Arial MT"/>
              </a:rPr>
              <a:t>I</a:t>
            </a:r>
            <a:r>
              <a:rPr sz="2800">
                <a:latin typeface="Arial MT"/>
                <a:cs typeface="Arial MT"/>
              </a:rPr>
              <a:t>T</a:t>
            </a:r>
            <a:r>
              <a:rPr sz="2800" spc="-370">
                <a:latin typeface="Arial MT"/>
                <a:cs typeface="Arial MT"/>
              </a:rPr>
              <a:t>Y</a:t>
            </a:r>
            <a:r>
              <a:rPr sz="2800">
                <a:latin typeface="Arial MT"/>
                <a:cs typeface="Arial MT"/>
              </a:rPr>
              <a:t>,</a:t>
            </a:r>
          </a:p>
          <a:p>
            <a:pPr marL="307975" marR="986155" algn="just">
              <a:lnSpc>
                <a:spcPct val="118900"/>
              </a:lnSpc>
              <a:spcBef>
                <a:spcPts val="110"/>
              </a:spcBef>
            </a:pPr>
            <a:r>
              <a:rPr sz="2800">
                <a:latin typeface="Arial MT"/>
                <a:cs typeface="Arial MT"/>
              </a:rPr>
              <a:t>first_name</a:t>
            </a:r>
            <a:r>
              <a:rPr sz="2800" spc="-20">
                <a:latin typeface="Arial MT"/>
                <a:cs typeface="Arial MT"/>
              </a:rPr>
              <a:t> VARCHAR(40)</a:t>
            </a:r>
            <a:r>
              <a:rPr sz="2800" spc="-2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NOT</a:t>
            </a:r>
            <a:r>
              <a:rPr sz="2800" spc="-7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NULL,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last_name </a:t>
            </a:r>
            <a:r>
              <a:rPr sz="2800" spc="-20">
                <a:latin typeface="Arial MT"/>
                <a:cs typeface="Arial MT"/>
              </a:rPr>
              <a:t>VARCHAR(40) </a:t>
            </a:r>
            <a:r>
              <a:rPr sz="2800" spc="-5">
                <a:latin typeface="Arial MT"/>
                <a:cs typeface="Arial MT"/>
              </a:rPr>
              <a:t>NOT </a:t>
            </a:r>
            <a:r>
              <a:rPr sz="2800">
                <a:latin typeface="Arial MT"/>
                <a:cs typeface="Arial MT"/>
              </a:rPr>
              <a:t>NULL,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 spc="-10">
                <a:latin typeface="Arial MT"/>
                <a:cs typeface="Arial MT"/>
              </a:rPr>
              <a:t>PRIMARY</a:t>
            </a:r>
            <a:r>
              <a:rPr sz="2800" spc="-6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KEY(id)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800" spc="5">
                <a:latin typeface="Arial MT"/>
                <a:cs typeface="Arial MT"/>
              </a:rPr>
              <a:t>);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260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Example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7363459" cy="308292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40">
                <a:latin typeface="Arial MT"/>
                <a:cs typeface="Arial MT"/>
              </a:rPr>
              <a:t>CREATE</a:t>
            </a:r>
            <a:r>
              <a:rPr sz="2800" spc="-70">
                <a:latin typeface="Arial MT"/>
                <a:cs typeface="Arial MT"/>
              </a:rPr>
              <a:t> </a:t>
            </a:r>
            <a:r>
              <a:rPr sz="2800" spc="-45">
                <a:latin typeface="Arial MT"/>
                <a:cs typeface="Arial MT"/>
              </a:rPr>
              <a:t>TABLE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employee_audits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(</a:t>
            </a:r>
          </a:p>
          <a:p>
            <a:pPr marL="307975">
              <a:lnSpc>
                <a:spcPct val="100000"/>
              </a:lnSpc>
              <a:spcBef>
                <a:spcPts val="625"/>
              </a:spcBef>
            </a:pPr>
            <a:r>
              <a:rPr sz="2800">
                <a:latin typeface="Arial MT"/>
                <a:cs typeface="Arial MT"/>
              </a:rPr>
              <a:t>id </a:t>
            </a:r>
            <a:r>
              <a:rPr sz="2800" spc="-5">
                <a:latin typeface="Arial MT"/>
                <a:cs typeface="Arial MT"/>
              </a:rPr>
              <a:t>I</a:t>
            </a:r>
            <a:r>
              <a:rPr sz="2800">
                <a:latin typeface="Arial MT"/>
                <a:cs typeface="Arial MT"/>
              </a:rPr>
              <a:t>NT</a:t>
            </a:r>
            <a:r>
              <a:rPr sz="2800" spc="-50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GE</a:t>
            </a:r>
            <a:r>
              <a:rPr sz="2800">
                <a:latin typeface="Arial MT"/>
                <a:cs typeface="Arial MT"/>
              </a:rPr>
              <a:t>N</a:t>
            </a:r>
            <a:r>
              <a:rPr sz="2800" spc="-10">
                <a:latin typeface="Arial MT"/>
                <a:cs typeface="Arial MT"/>
              </a:rPr>
              <a:t>E</a:t>
            </a:r>
            <a:r>
              <a:rPr sz="2800">
                <a:latin typeface="Arial MT"/>
                <a:cs typeface="Arial MT"/>
              </a:rPr>
              <a:t>R</a:t>
            </a:r>
            <a:r>
              <a:rPr sz="2800" spc="-215">
                <a:latin typeface="Arial MT"/>
                <a:cs typeface="Arial MT"/>
              </a:rPr>
              <a:t>A</a:t>
            </a:r>
            <a:r>
              <a:rPr sz="2800">
                <a:latin typeface="Arial MT"/>
                <a:cs typeface="Arial MT"/>
              </a:rPr>
              <a:t>T</a:t>
            </a:r>
            <a:r>
              <a:rPr sz="2800" spc="-5">
                <a:latin typeface="Arial MT"/>
                <a:cs typeface="Arial MT"/>
              </a:rPr>
              <a:t>E</a:t>
            </a:r>
            <a:r>
              <a:rPr sz="2800">
                <a:latin typeface="Arial MT"/>
                <a:cs typeface="Arial MT"/>
              </a:rPr>
              <a:t>D</a:t>
            </a:r>
            <a:r>
              <a:rPr sz="2800" spc="-15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A</a:t>
            </a:r>
            <a:r>
              <a:rPr sz="2800" spc="-204">
                <a:latin typeface="Arial MT"/>
                <a:cs typeface="Arial MT"/>
              </a:rPr>
              <a:t>L</a:t>
            </a:r>
            <a:r>
              <a:rPr sz="2800" spc="-110">
                <a:latin typeface="Arial MT"/>
                <a:cs typeface="Arial MT"/>
              </a:rPr>
              <a:t>W</a:t>
            </a:r>
            <a:r>
              <a:rPr sz="2800" spc="-215">
                <a:latin typeface="Arial MT"/>
                <a:cs typeface="Arial MT"/>
              </a:rPr>
              <a:t>A</a:t>
            </a:r>
            <a:r>
              <a:rPr sz="2800" spc="-5">
                <a:latin typeface="Arial MT"/>
                <a:cs typeface="Arial MT"/>
              </a:rPr>
              <a:t>Y</a:t>
            </a:r>
            <a:r>
              <a:rPr sz="2800">
                <a:latin typeface="Arial MT"/>
                <a:cs typeface="Arial MT"/>
              </a:rPr>
              <a:t>S</a:t>
            </a:r>
            <a:r>
              <a:rPr sz="2800" spc="-16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A</a:t>
            </a:r>
            <a:r>
              <a:rPr sz="2800">
                <a:latin typeface="Arial MT"/>
                <a:cs typeface="Arial MT"/>
              </a:rPr>
              <a:t>S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I</a:t>
            </a:r>
            <a:r>
              <a:rPr sz="2800">
                <a:latin typeface="Arial MT"/>
                <a:cs typeface="Arial MT"/>
              </a:rPr>
              <a:t>D</a:t>
            </a:r>
            <a:r>
              <a:rPr sz="2800" spc="-10">
                <a:latin typeface="Arial MT"/>
                <a:cs typeface="Arial MT"/>
              </a:rPr>
              <a:t>E</a:t>
            </a:r>
            <a:r>
              <a:rPr sz="2800">
                <a:latin typeface="Arial MT"/>
                <a:cs typeface="Arial MT"/>
              </a:rPr>
              <a:t>NT</a:t>
            </a:r>
            <a:r>
              <a:rPr sz="2800" spc="-5">
                <a:latin typeface="Arial MT"/>
                <a:cs typeface="Arial MT"/>
              </a:rPr>
              <a:t>I</a:t>
            </a:r>
            <a:r>
              <a:rPr sz="2800">
                <a:latin typeface="Arial MT"/>
                <a:cs typeface="Arial MT"/>
              </a:rPr>
              <a:t>T</a:t>
            </a:r>
            <a:r>
              <a:rPr sz="2800" spc="-370">
                <a:latin typeface="Arial MT"/>
                <a:cs typeface="Arial MT"/>
              </a:rPr>
              <a:t>Y</a:t>
            </a:r>
            <a:r>
              <a:rPr sz="2800">
                <a:latin typeface="Arial MT"/>
                <a:cs typeface="Arial MT"/>
              </a:rPr>
              <a:t>,</a:t>
            </a:r>
          </a:p>
          <a:p>
            <a:pPr marL="307975" marR="1005205">
              <a:lnSpc>
                <a:spcPct val="119300"/>
              </a:lnSpc>
            </a:pPr>
            <a:r>
              <a:rPr sz="2800">
                <a:latin typeface="Arial MT"/>
                <a:cs typeface="Arial MT"/>
              </a:rPr>
              <a:t>employee_id </a:t>
            </a:r>
            <a:r>
              <a:rPr sz="2800" spc="-5">
                <a:latin typeface="Arial MT"/>
                <a:cs typeface="Arial MT"/>
              </a:rPr>
              <a:t>INT NOT </a:t>
            </a:r>
            <a:r>
              <a:rPr sz="2800">
                <a:latin typeface="Arial MT"/>
                <a:cs typeface="Arial MT"/>
              </a:rPr>
              <a:t>NULL, </a:t>
            </a:r>
            <a:r>
              <a:rPr sz="2800" spc="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last_name</a:t>
            </a:r>
            <a:r>
              <a:rPr sz="2800" spc="-20">
                <a:latin typeface="Arial MT"/>
                <a:cs typeface="Arial MT"/>
              </a:rPr>
              <a:t> VARCHAR(40)</a:t>
            </a:r>
            <a:r>
              <a:rPr sz="2800" spc="-2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NOT</a:t>
            </a:r>
            <a:r>
              <a:rPr sz="2800" spc="-6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NULL,</a:t>
            </a:r>
          </a:p>
          <a:p>
            <a:pPr marL="307975">
              <a:lnSpc>
                <a:spcPct val="100000"/>
              </a:lnSpc>
              <a:spcBef>
                <a:spcPts val="745"/>
              </a:spcBef>
            </a:pPr>
            <a:r>
              <a:rPr sz="2800">
                <a:latin typeface="Arial MT"/>
                <a:cs typeface="Arial MT"/>
              </a:rPr>
              <a:t>changed_on</a:t>
            </a:r>
            <a:r>
              <a:rPr sz="2800" spc="-65">
                <a:latin typeface="Arial MT"/>
                <a:cs typeface="Arial MT"/>
              </a:rPr>
              <a:t> </a:t>
            </a:r>
            <a:r>
              <a:rPr sz="2800" spc="-20">
                <a:latin typeface="Arial MT"/>
                <a:cs typeface="Arial MT"/>
              </a:rPr>
              <a:t>TIMESTAMP(6)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NOT</a:t>
            </a:r>
            <a:r>
              <a:rPr sz="2800" spc="-6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NULL</a:t>
            </a: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800" spc="5">
                <a:latin typeface="Arial MT"/>
                <a:cs typeface="Arial MT"/>
              </a:rPr>
              <a:t>);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260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Example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17039"/>
            <a:ext cx="7847965" cy="405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475" marR="2499360" indent="-104775">
              <a:lnSpc>
                <a:spcPct val="128000"/>
              </a:lnSpc>
              <a:spcBef>
                <a:spcPts val="100"/>
              </a:spcBef>
            </a:pPr>
            <a:r>
              <a:rPr sz="1500" spc="-25">
                <a:latin typeface="Arial MT"/>
                <a:cs typeface="Arial MT"/>
              </a:rPr>
              <a:t>CREATE</a:t>
            </a:r>
            <a:r>
              <a:rPr sz="1500" spc="15">
                <a:latin typeface="Arial MT"/>
                <a:cs typeface="Arial MT"/>
              </a:rPr>
              <a:t> </a:t>
            </a:r>
            <a:r>
              <a:rPr sz="1500" spc="-5">
                <a:latin typeface="Arial MT"/>
                <a:cs typeface="Arial MT"/>
              </a:rPr>
              <a:t>OR</a:t>
            </a:r>
            <a:r>
              <a:rPr sz="1500" spc="15">
                <a:latin typeface="Arial MT"/>
                <a:cs typeface="Arial MT"/>
              </a:rPr>
              <a:t> </a:t>
            </a:r>
            <a:r>
              <a:rPr sz="1500" spc="-5">
                <a:latin typeface="Arial MT"/>
                <a:cs typeface="Arial MT"/>
              </a:rPr>
              <a:t>REPLACE</a:t>
            </a:r>
            <a:r>
              <a:rPr sz="1500" spc="15">
                <a:latin typeface="Arial MT"/>
                <a:cs typeface="Arial MT"/>
              </a:rPr>
              <a:t> </a:t>
            </a:r>
            <a:r>
              <a:rPr sz="1500" spc="-5">
                <a:latin typeface="Arial MT"/>
                <a:cs typeface="Arial MT"/>
              </a:rPr>
              <a:t>FUNCTION</a:t>
            </a:r>
            <a:r>
              <a:rPr sz="1500" spc="20">
                <a:latin typeface="Arial MT"/>
                <a:cs typeface="Arial MT"/>
              </a:rPr>
              <a:t> </a:t>
            </a:r>
            <a:r>
              <a:rPr sz="1500" spc="-5">
                <a:latin typeface="Arial MT"/>
                <a:cs typeface="Arial MT"/>
              </a:rPr>
              <a:t>log_last_name_changes() </a:t>
            </a:r>
            <a:r>
              <a:rPr sz="1500" spc="-400">
                <a:latin typeface="Arial MT"/>
                <a:cs typeface="Arial MT"/>
              </a:rPr>
              <a:t> </a:t>
            </a:r>
            <a:r>
              <a:rPr sz="1500" spc="-5">
                <a:latin typeface="Arial MT"/>
                <a:cs typeface="Arial MT"/>
              </a:rPr>
              <a:t>RETURNS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 spc="-5">
                <a:latin typeface="Arial MT"/>
                <a:cs typeface="Arial MT"/>
              </a:rPr>
              <a:t>TRIGGER</a:t>
            </a:r>
            <a:endParaRPr sz="1500">
              <a:latin typeface="Arial MT"/>
              <a:cs typeface="Arial MT"/>
            </a:endParaRPr>
          </a:p>
          <a:p>
            <a:pPr marL="106680" marR="5722620" indent="10160">
              <a:lnSpc>
                <a:spcPct val="122700"/>
              </a:lnSpc>
              <a:spcBef>
                <a:spcPts val="95"/>
              </a:spcBef>
            </a:pPr>
            <a:r>
              <a:rPr sz="1500" spc="-5">
                <a:latin typeface="Arial MT"/>
                <a:cs typeface="Arial MT"/>
              </a:rPr>
              <a:t>LANGUAGE</a:t>
            </a:r>
            <a:r>
              <a:rPr sz="1500" spc="-70">
                <a:latin typeface="Arial MT"/>
                <a:cs typeface="Arial MT"/>
              </a:rPr>
              <a:t> </a:t>
            </a:r>
            <a:r>
              <a:rPr sz="1500" spc="-5">
                <a:latin typeface="Arial MT"/>
                <a:cs typeface="Arial MT"/>
              </a:rPr>
              <a:t>PLPGSQL </a:t>
            </a:r>
            <a:r>
              <a:rPr sz="1500" spc="-400">
                <a:latin typeface="Arial MT"/>
                <a:cs typeface="Arial MT"/>
              </a:rPr>
              <a:t> </a:t>
            </a:r>
            <a:r>
              <a:rPr sz="1500" spc="-5">
                <a:latin typeface="Arial MT"/>
                <a:cs typeface="Arial MT"/>
              </a:rPr>
              <a:t>AS</a:t>
            </a:r>
            <a:endParaRPr sz="1500">
              <a:latin typeface="Arial MT"/>
              <a:cs typeface="Arial MT"/>
            </a:endParaRPr>
          </a:p>
          <a:p>
            <a:pPr marL="12700" marR="7235825">
              <a:lnSpc>
                <a:spcPct val="121300"/>
              </a:lnSpc>
              <a:spcBef>
                <a:spcPts val="120"/>
              </a:spcBef>
            </a:pPr>
            <a:r>
              <a:rPr sz="1500">
                <a:latin typeface="Arial MT"/>
                <a:cs typeface="Arial MT"/>
              </a:rPr>
              <a:t>$$ </a:t>
            </a:r>
            <a:r>
              <a:rPr sz="1500" spc="5">
                <a:latin typeface="Arial MT"/>
                <a:cs typeface="Arial MT"/>
              </a:rPr>
              <a:t> </a:t>
            </a:r>
            <a:r>
              <a:rPr sz="1500" spc="-5">
                <a:latin typeface="Arial MT"/>
                <a:cs typeface="Arial MT"/>
              </a:rPr>
              <a:t>BEGI</a:t>
            </a:r>
            <a:r>
              <a:rPr sz="1500">
                <a:latin typeface="Arial MT"/>
                <a:cs typeface="Arial MT"/>
              </a:rPr>
              <a:t>N</a:t>
            </a:r>
          </a:p>
          <a:p>
            <a:pPr marL="926465">
              <a:lnSpc>
                <a:spcPct val="100000"/>
              </a:lnSpc>
              <a:spcBef>
                <a:spcPts val="505"/>
              </a:spcBef>
            </a:pPr>
            <a:r>
              <a:rPr sz="1500" spc="-5">
                <a:latin typeface="Arial MT"/>
                <a:cs typeface="Arial MT"/>
              </a:rPr>
              <a:t>IF</a:t>
            </a:r>
            <a:r>
              <a:rPr sz="1500" spc="-10">
                <a:latin typeface="Arial MT"/>
                <a:cs typeface="Arial MT"/>
              </a:rPr>
              <a:t> NEW.last_name</a:t>
            </a:r>
            <a:r>
              <a:rPr sz="1500" spc="-5">
                <a:latin typeface="Arial MT"/>
                <a:cs typeface="Arial MT"/>
              </a:rPr>
              <a:t> &lt;&gt;</a:t>
            </a:r>
            <a:r>
              <a:rPr sz="1500" spc="-10">
                <a:latin typeface="Arial MT"/>
                <a:cs typeface="Arial MT"/>
              </a:rPr>
              <a:t> </a:t>
            </a:r>
            <a:r>
              <a:rPr sz="1500" spc="-5">
                <a:latin typeface="Arial MT"/>
                <a:cs typeface="Arial MT"/>
              </a:rPr>
              <a:t>OLD.last_name</a:t>
            </a:r>
            <a:r>
              <a:rPr sz="1500" spc="-30">
                <a:latin typeface="Arial MT"/>
                <a:cs typeface="Arial MT"/>
              </a:rPr>
              <a:t> </a:t>
            </a:r>
            <a:r>
              <a:rPr sz="1500" spc="-5">
                <a:latin typeface="Arial MT"/>
                <a:cs typeface="Arial MT"/>
              </a:rPr>
              <a:t>THEN</a:t>
            </a:r>
            <a:endParaRPr sz="1500">
              <a:latin typeface="Arial MT"/>
              <a:cs typeface="Arial MT"/>
            </a:endParaRPr>
          </a:p>
          <a:p>
            <a:pPr marL="1893570" marR="5080">
              <a:lnSpc>
                <a:spcPct val="122700"/>
              </a:lnSpc>
              <a:spcBef>
                <a:spcPts val="95"/>
              </a:spcBef>
            </a:pPr>
            <a:r>
              <a:rPr sz="1500" spc="-5">
                <a:latin typeface="Arial MT"/>
                <a:cs typeface="Arial MT"/>
              </a:rPr>
              <a:t>INSERT</a:t>
            </a:r>
            <a:r>
              <a:rPr sz="1500" spc="15">
                <a:latin typeface="Arial MT"/>
                <a:cs typeface="Arial MT"/>
              </a:rPr>
              <a:t> </a:t>
            </a:r>
            <a:r>
              <a:rPr sz="1500" spc="-10">
                <a:latin typeface="Arial MT"/>
                <a:cs typeface="Arial MT"/>
              </a:rPr>
              <a:t>INTO</a:t>
            </a:r>
            <a:r>
              <a:rPr sz="1500" spc="40">
                <a:latin typeface="Arial MT"/>
                <a:cs typeface="Arial MT"/>
              </a:rPr>
              <a:t> </a:t>
            </a:r>
            <a:r>
              <a:rPr sz="1500" spc="-5">
                <a:latin typeface="Arial MT"/>
                <a:cs typeface="Arial MT"/>
              </a:rPr>
              <a:t>employee_audits(employee_id,last_name,changed_on) </a:t>
            </a:r>
            <a:r>
              <a:rPr sz="1500" spc="-400">
                <a:latin typeface="Arial MT"/>
                <a:cs typeface="Arial MT"/>
              </a:rPr>
              <a:t> </a:t>
            </a:r>
            <a:r>
              <a:rPr sz="1500" spc="-5">
                <a:latin typeface="Arial MT"/>
                <a:cs typeface="Arial MT"/>
              </a:rPr>
              <a:t>VALUES(OLD.id,OLD.last_name,now());</a:t>
            </a:r>
            <a:endParaRPr sz="15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480"/>
              </a:spcBef>
            </a:pPr>
            <a:r>
              <a:rPr sz="1500" spc="-5">
                <a:latin typeface="Arial MT"/>
                <a:cs typeface="Arial MT"/>
              </a:rPr>
              <a:t>END</a:t>
            </a:r>
            <a:r>
              <a:rPr sz="1500" spc="-45">
                <a:latin typeface="Arial MT"/>
                <a:cs typeface="Arial MT"/>
              </a:rPr>
              <a:t> </a:t>
            </a:r>
            <a:r>
              <a:rPr sz="1500" spc="-5">
                <a:latin typeface="Arial MT"/>
                <a:cs typeface="Arial MT"/>
              </a:rPr>
              <a:t>IF;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985"/>
              </a:spcBef>
            </a:pPr>
            <a:r>
              <a:rPr sz="1500" spc="-5">
                <a:latin typeface="Arial MT"/>
                <a:cs typeface="Arial MT"/>
              </a:rPr>
              <a:t>RETURN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 spc="-10">
                <a:latin typeface="Arial MT"/>
                <a:cs typeface="Arial MT"/>
              </a:rPr>
              <a:t>NEW;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500" spc="-5">
                <a:latin typeface="Arial MT"/>
                <a:cs typeface="Arial MT"/>
              </a:rPr>
              <a:t>END;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500">
                <a:latin typeface="Arial MT"/>
                <a:cs typeface="Arial MT"/>
              </a:rPr>
              <a:t>$$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260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Example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8572500" cy="257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550" marR="2135505" indent="-196850">
              <a:lnSpc>
                <a:spcPct val="118600"/>
              </a:lnSpc>
              <a:spcBef>
                <a:spcPts val="100"/>
              </a:spcBef>
            </a:pPr>
            <a:r>
              <a:rPr sz="2800" spc="-40">
                <a:latin typeface="Arial MT"/>
                <a:cs typeface="Arial MT"/>
              </a:rPr>
              <a:t>CREATE </a:t>
            </a:r>
            <a:r>
              <a:rPr sz="2800" spc="-5">
                <a:latin typeface="Arial MT"/>
                <a:cs typeface="Arial MT"/>
              </a:rPr>
              <a:t>TRIGGER </a:t>
            </a:r>
            <a:r>
              <a:rPr sz="2800">
                <a:latin typeface="Arial MT"/>
                <a:cs typeface="Arial MT"/>
              </a:rPr>
              <a:t>last_name_changes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BEFORE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 spc="-40">
                <a:latin typeface="Arial MT"/>
                <a:cs typeface="Arial MT"/>
              </a:rPr>
              <a:t>UPDATE</a:t>
            </a:r>
            <a:endParaRPr sz="2800">
              <a:latin typeface="Arial MT"/>
              <a:cs typeface="Arial MT"/>
            </a:endParaRPr>
          </a:p>
          <a:p>
            <a:pPr marL="209550" marR="5549900">
              <a:lnSpc>
                <a:spcPct val="119300"/>
              </a:lnSpc>
            </a:pPr>
            <a:r>
              <a:rPr sz="2800" spc="-5">
                <a:latin typeface="Arial MT"/>
                <a:cs typeface="Arial MT"/>
              </a:rPr>
              <a:t>ON </a:t>
            </a:r>
            <a:r>
              <a:rPr sz="2800">
                <a:latin typeface="Arial MT"/>
                <a:cs typeface="Arial MT"/>
              </a:rPr>
              <a:t>employees </a:t>
            </a:r>
            <a:r>
              <a:rPr sz="2800" spc="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FOR</a:t>
            </a:r>
            <a:r>
              <a:rPr sz="2800" spc="-3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EACH</a:t>
            </a:r>
            <a:r>
              <a:rPr sz="2800" spc="-3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ROW</a:t>
            </a:r>
            <a:endParaRPr sz="2800">
              <a:latin typeface="Arial MT"/>
              <a:cs typeface="Arial MT"/>
            </a:endParaRPr>
          </a:p>
          <a:p>
            <a:pPr marL="209550">
              <a:lnSpc>
                <a:spcPct val="100000"/>
              </a:lnSpc>
              <a:spcBef>
                <a:spcPts val="740"/>
              </a:spcBef>
            </a:pPr>
            <a:r>
              <a:rPr sz="2800" spc="-5">
                <a:latin typeface="Arial MT"/>
                <a:cs typeface="Arial MT"/>
              </a:rPr>
              <a:t>EXECUTE</a:t>
            </a:r>
            <a:r>
              <a:rPr sz="2800" spc="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PROCEDURE</a:t>
            </a:r>
            <a:r>
              <a:rPr sz="2800">
                <a:latin typeface="Arial MT"/>
                <a:cs typeface="Arial MT"/>
              </a:rPr>
              <a:t> log_last_name_changes();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260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Example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05864"/>
            <a:ext cx="7066280" cy="3314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3200"/>
              </a:lnSpc>
              <a:spcBef>
                <a:spcPts val="100"/>
              </a:spcBef>
            </a:pPr>
            <a:r>
              <a:rPr sz="2500" spc="-15">
                <a:latin typeface="Arial MT"/>
                <a:cs typeface="Arial MT"/>
              </a:rPr>
              <a:t>INSERT</a:t>
            </a:r>
            <a:r>
              <a:rPr sz="2500" spc="-45">
                <a:latin typeface="Arial MT"/>
                <a:cs typeface="Arial MT"/>
              </a:rPr>
              <a:t> </a:t>
            </a:r>
            <a:r>
              <a:rPr sz="2500" spc="-15">
                <a:latin typeface="Arial MT"/>
                <a:cs typeface="Arial MT"/>
              </a:rPr>
              <a:t>INTO</a:t>
            </a:r>
            <a:r>
              <a:rPr sz="2500" spc="15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employees</a:t>
            </a:r>
            <a:r>
              <a:rPr sz="2500" spc="1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(first_name,</a:t>
            </a:r>
            <a:r>
              <a:rPr sz="2500" spc="15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last_name) </a:t>
            </a:r>
            <a:r>
              <a:rPr sz="2500" spc="-680">
                <a:latin typeface="Arial MT"/>
                <a:cs typeface="Arial MT"/>
              </a:rPr>
              <a:t> </a:t>
            </a:r>
            <a:r>
              <a:rPr sz="2500" spc="-40">
                <a:latin typeface="Arial MT"/>
                <a:cs typeface="Arial MT"/>
              </a:rPr>
              <a:t>VALUES</a:t>
            </a:r>
            <a:r>
              <a:rPr sz="2500" spc="-5">
                <a:latin typeface="Arial MT"/>
                <a:cs typeface="Arial MT"/>
              </a:rPr>
              <a:t> ('John',</a:t>
            </a:r>
            <a:r>
              <a:rPr sz="2500" spc="1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'Doe');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200">
              <a:latin typeface="Arial MT"/>
              <a:cs typeface="Arial MT"/>
            </a:endParaRPr>
          </a:p>
          <a:p>
            <a:pPr marL="12700" marR="5080">
              <a:lnSpc>
                <a:spcPct val="123200"/>
              </a:lnSpc>
            </a:pPr>
            <a:r>
              <a:rPr sz="2500" spc="-15">
                <a:latin typeface="Arial MT"/>
                <a:cs typeface="Arial MT"/>
              </a:rPr>
              <a:t>INSERT</a:t>
            </a:r>
            <a:r>
              <a:rPr sz="2500" spc="-45">
                <a:latin typeface="Arial MT"/>
                <a:cs typeface="Arial MT"/>
              </a:rPr>
              <a:t> </a:t>
            </a:r>
            <a:r>
              <a:rPr sz="2500" spc="-15">
                <a:latin typeface="Arial MT"/>
                <a:cs typeface="Arial MT"/>
              </a:rPr>
              <a:t>INTO</a:t>
            </a:r>
            <a:r>
              <a:rPr sz="2500" spc="15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employees</a:t>
            </a:r>
            <a:r>
              <a:rPr sz="2500" spc="1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(first_name,</a:t>
            </a:r>
            <a:r>
              <a:rPr sz="2500" spc="15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last_name) </a:t>
            </a:r>
            <a:r>
              <a:rPr sz="2500" spc="-680">
                <a:latin typeface="Arial MT"/>
                <a:cs typeface="Arial MT"/>
              </a:rPr>
              <a:t> </a:t>
            </a:r>
            <a:r>
              <a:rPr sz="2500" spc="-40">
                <a:latin typeface="Arial MT"/>
                <a:cs typeface="Arial MT"/>
              </a:rPr>
              <a:t>VALUES</a:t>
            </a:r>
            <a:r>
              <a:rPr sz="2500" spc="-5">
                <a:latin typeface="Arial MT"/>
                <a:cs typeface="Arial MT"/>
              </a:rPr>
              <a:t> ('Lily',</a:t>
            </a:r>
            <a:r>
              <a:rPr sz="2500" spc="1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'Bush’);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2500" spc="-5">
                <a:latin typeface="Arial MT"/>
                <a:cs typeface="Arial MT"/>
              </a:rPr>
              <a:t>SELECT</a:t>
            </a:r>
            <a:r>
              <a:rPr sz="2500" spc="-65">
                <a:latin typeface="Arial MT"/>
                <a:cs typeface="Arial MT"/>
              </a:rPr>
              <a:t> </a:t>
            </a:r>
            <a:r>
              <a:rPr sz="2500">
                <a:latin typeface="Arial MT"/>
                <a:cs typeface="Arial MT"/>
              </a:rPr>
              <a:t>*</a:t>
            </a:r>
            <a:r>
              <a:rPr sz="2500" spc="-1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FROM employees;</a:t>
            </a:r>
            <a:endParaRPr sz="25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2728" y="5182268"/>
            <a:ext cx="5118099" cy="11175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260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Example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5677535" cy="35915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1678939">
              <a:lnSpc>
                <a:spcPct val="118900"/>
              </a:lnSpc>
              <a:spcBef>
                <a:spcPts val="85"/>
              </a:spcBef>
            </a:pPr>
            <a:r>
              <a:rPr sz="2800" spc="-40">
                <a:latin typeface="Arial MT"/>
                <a:cs typeface="Arial MT"/>
              </a:rPr>
              <a:t>UPDATE</a:t>
            </a:r>
            <a:r>
              <a:rPr sz="2800" spc="69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employees </a:t>
            </a:r>
            <a:r>
              <a:rPr sz="2800" spc="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SET</a:t>
            </a:r>
            <a:r>
              <a:rPr sz="2800" spc="-6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last_name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=</a:t>
            </a:r>
            <a:r>
              <a:rPr sz="2800" spc="-20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'Brown'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WHERE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ID </a:t>
            </a:r>
            <a:r>
              <a:rPr sz="2800">
                <a:latin typeface="Arial MT"/>
                <a:cs typeface="Arial MT"/>
              </a:rPr>
              <a:t>=</a:t>
            </a:r>
            <a:r>
              <a:rPr sz="2800" spc="-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2;</a:t>
            </a:r>
          </a:p>
          <a:p>
            <a:pPr marL="12700" marR="5080">
              <a:lnSpc>
                <a:spcPct val="237900"/>
              </a:lnSpc>
              <a:spcBef>
                <a:spcPts val="120"/>
              </a:spcBef>
            </a:pPr>
            <a:r>
              <a:rPr sz="2800" spc="-5">
                <a:latin typeface="Arial MT"/>
                <a:cs typeface="Arial MT"/>
              </a:rPr>
              <a:t>SELECT </a:t>
            </a:r>
            <a:r>
              <a:rPr sz="2800">
                <a:latin typeface="Arial MT"/>
                <a:cs typeface="Arial MT"/>
              </a:rPr>
              <a:t>* </a:t>
            </a:r>
            <a:r>
              <a:rPr sz="2800" spc="-5">
                <a:latin typeface="Arial MT"/>
                <a:cs typeface="Arial MT"/>
              </a:rPr>
              <a:t>FROM </a:t>
            </a:r>
            <a:r>
              <a:rPr sz="2800">
                <a:latin typeface="Arial MT"/>
                <a:cs typeface="Arial MT"/>
              </a:rPr>
              <a:t>employees; </a:t>
            </a:r>
            <a:r>
              <a:rPr sz="2800" spc="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SELECT</a:t>
            </a:r>
            <a:r>
              <a:rPr sz="2800" spc="-6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*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FROM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employee_audits;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5271" y="3429000"/>
            <a:ext cx="5041898" cy="1092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5278" y="5414962"/>
            <a:ext cx="6985000" cy="7619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770953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PostgreSQL</a:t>
            </a:r>
            <a:r>
              <a:rPr sz="4400" spc="-90"/>
              <a:t> </a:t>
            </a:r>
            <a:r>
              <a:rPr sz="4400" spc="-5"/>
              <a:t>DROP</a:t>
            </a:r>
            <a:r>
              <a:rPr sz="4400" spc="-90"/>
              <a:t> </a:t>
            </a:r>
            <a:r>
              <a:rPr sz="4400" spc="-5"/>
              <a:t>TRIGGER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9726930" cy="236982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500"/>
              </a:spcBef>
            </a:pPr>
            <a:r>
              <a:rPr sz="2800" spc="-155">
                <a:latin typeface="Arial MT"/>
                <a:cs typeface="Arial MT"/>
              </a:rPr>
              <a:t>To</a:t>
            </a:r>
            <a:r>
              <a:rPr sz="2800" spc="-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delete a</a:t>
            </a:r>
            <a:r>
              <a:rPr sz="2800" spc="-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trigger from a</a:t>
            </a:r>
            <a:r>
              <a:rPr sz="2800" spc="-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table,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you use</a:t>
            </a:r>
            <a:r>
              <a:rPr sz="2800" spc="-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the </a:t>
            </a:r>
            <a:r>
              <a:rPr sz="2800" spc="-5">
                <a:latin typeface="Arial MT"/>
                <a:cs typeface="Arial MT"/>
              </a:rPr>
              <a:t>DROP</a:t>
            </a:r>
            <a:r>
              <a:rPr sz="2800" spc="-110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TRIGGER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statement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with</a:t>
            </a:r>
            <a:r>
              <a:rPr sz="2800">
                <a:latin typeface="Arial MT"/>
                <a:cs typeface="Arial MT"/>
              </a:rPr>
              <a:t> the following syntax: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300">
              <a:latin typeface="Arial MT"/>
              <a:cs typeface="Arial MT"/>
            </a:endParaRPr>
          </a:p>
          <a:p>
            <a:pPr marL="12700" marR="2802890">
              <a:lnSpc>
                <a:spcPct val="122100"/>
              </a:lnSpc>
              <a:spcBef>
                <a:spcPts val="5"/>
              </a:spcBef>
            </a:pPr>
            <a:r>
              <a:rPr sz="2800" spc="-5">
                <a:latin typeface="Arial MT"/>
                <a:cs typeface="Arial MT"/>
              </a:rPr>
              <a:t>DROP</a:t>
            </a:r>
            <a:r>
              <a:rPr sz="2800" spc="-120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TRIGGER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[IF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EXISTS]</a:t>
            </a:r>
            <a:r>
              <a:rPr sz="2800" spc="-2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trigger_name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ON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table_name</a:t>
            </a:r>
            <a:r>
              <a:rPr sz="2800" spc="-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[</a:t>
            </a:r>
            <a:r>
              <a:rPr sz="2800" spc="-20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CASCADE</a:t>
            </a:r>
            <a:r>
              <a:rPr sz="2800" spc="-2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|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RESTRICT</a:t>
            </a:r>
            <a:r>
              <a:rPr sz="2800" spc="-6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];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11124"/>
            <a:ext cx="23260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5">
                <a:latin typeface="Arial"/>
                <a:cs typeface="Arial"/>
              </a:rPr>
              <a:t>Example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2728468"/>
            <a:ext cx="6047105" cy="1043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300"/>
              </a:lnSpc>
              <a:spcBef>
                <a:spcPts val="100"/>
              </a:spcBef>
            </a:pPr>
            <a:r>
              <a:rPr sz="2800" spc="-5">
                <a:latin typeface="Arial MT"/>
                <a:cs typeface="Arial MT"/>
              </a:rPr>
              <a:t>DROP</a:t>
            </a:r>
            <a:r>
              <a:rPr sz="2800" spc="-120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TRIGGER </a:t>
            </a:r>
            <a:r>
              <a:rPr sz="2800">
                <a:latin typeface="Arial MT"/>
                <a:cs typeface="Arial MT"/>
              </a:rPr>
              <a:t>last_name_changes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ON </a:t>
            </a:r>
            <a:r>
              <a:rPr sz="2800">
                <a:latin typeface="Arial MT"/>
                <a:cs typeface="Arial MT"/>
              </a:rPr>
              <a:t>employee;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79044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PostgreSQL</a:t>
            </a:r>
            <a:r>
              <a:rPr sz="4400" spc="-254"/>
              <a:t> </a:t>
            </a:r>
            <a:r>
              <a:rPr sz="4400" spc="-70"/>
              <a:t>ALTER</a:t>
            </a:r>
            <a:r>
              <a:rPr sz="4400" spc="-15"/>
              <a:t> </a:t>
            </a:r>
            <a:r>
              <a:rPr sz="4400" spc="-5"/>
              <a:t>TRIGGER</a:t>
            </a:r>
            <a:endParaRPr sz="4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500"/>
              </a:spcBef>
            </a:pPr>
            <a:r>
              <a:t>The </a:t>
            </a:r>
            <a:r>
              <a:rPr b="1" spc="-45">
                <a:latin typeface="Arial"/>
                <a:cs typeface="Arial"/>
              </a:rPr>
              <a:t>ALTER</a:t>
            </a:r>
            <a:r>
              <a:rPr b="1">
                <a:latin typeface="Arial"/>
                <a:cs typeface="Arial"/>
              </a:rPr>
              <a:t> </a:t>
            </a:r>
            <a:r>
              <a:rPr b="1" spc="-5">
                <a:latin typeface="Arial"/>
                <a:cs typeface="Arial"/>
              </a:rPr>
              <a:t>TRIGGER </a:t>
            </a:r>
            <a:r>
              <a:t>statement</a:t>
            </a:r>
            <a:r>
              <a:rPr spc="-5"/>
              <a:t> </a:t>
            </a:r>
            <a:r>
              <a:t>allows</a:t>
            </a:r>
            <a:r>
              <a:rPr spc="-5"/>
              <a:t> </a:t>
            </a:r>
            <a:r>
              <a:t>you </a:t>
            </a:r>
            <a:r>
              <a:rPr spc="-5"/>
              <a:t>to</a:t>
            </a:r>
            <a:r>
              <a:rPr spc="5"/>
              <a:t> </a:t>
            </a:r>
            <a:r>
              <a:t>rename a </a:t>
            </a:r>
            <a:r>
              <a:rPr spc="-20"/>
              <a:t>trigger. </a:t>
            </a:r>
            <a:r>
              <a:rPr spc="-760"/>
              <a:t> </a:t>
            </a:r>
            <a:r>
              <a:t>The</a:t>
            </a:r>
            <a:r>
              <a:rPr spc="-5"/>
              <a:t> </a:t>
            </a:r>
            <a:r>
              <a:t>following shows</a:t>
            </a:r>
            <a:r>
              <a:rPr spc="-5"/>
              <a:t> </a:t>
            </a:r>
            <a:r>
              <a:t>the</a:t>
            </a:r>
            <a:r>
              <a:rPr spc="-5"/>
              <a:t> </a:t>
            </a:r>
            <a:r>
              <a:t>syntax</a:t>
            </a:r>
            <a:r>
              <a:rPr spc="-5"/>
              <a:t> </a:t>
            </a:r>
            <a:r>
              <a:t>of</a:t>
            </a:r>
            <a:r>
              <a:rPr spc="-10"/>
              <a:t> </a:t>
            </a:r>
            <a:r>
              <a:t>the</a:t>
            </a:r>
            <a:r>
              <a:rPr spc="-5"/>
              <a:t> </a:t>
            </a:r>
            <a:r>
              <a:rPr b="1" spc="-45">
                <a:latin typeface="Arial"/>
                <a:cs typeface="Arial"/>
              </a:rPr>
              <a:t>ALTER</a:t>
            </a:r>
            <a:r>
              <a:rPr b="1">
                <a:latin typeface="Arial"/>
                <a:cs typeface="Arial"/>
              </a:rPr>
              <a:t> </a:t>
            </a:r>
            <a:r>
              <a:rPr b="1" spc="-5">
                <a:latin typeface="Arial"/>
                <a:cs typeface="Arial"/>
              </a:rPr>
              <a:t>TRIGGER </a:t>
            </a:r>
            <a:r>
              <a:rPr b="1">
                <a:latin typeface="Arial"/>
                <a:cs typeface="Arial"/>
              </a:rPr>
              <a:t> </a:t>
            </a:r>
            <a:r>
              <a:t>statement: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/>
          </a:p>
          <a:p>
            <a:pPr marL="12700" marR="5177790">
              <a:lnSpc>
                <a:spcPct val="119300"/>
              </a:lnSpc>
              <a:spcBef>
                <a:spcPts val="5"/>
              </a:spcBef>
            </a:pPr>
            <a:r>
              <a:rPr spc="-45"/>
              <a:t>ALTER</a:t>
            </a:r>
            <a:r>
              <a:rPr spc="-85"/>
              <a:t> </a:t>
            </a:r>
            <a:r>
              <a:rPr spc="-5"/>
              <a:t>TRIGGER</a:t>
            </a:r>
            <a:r>
              <a:rPr spc="-35"/>
              <a:t> </a:t>
            </a:r>
            <a:r>
              <a:t>trigger_name </a:t>
            </a:r>
            <a:r>
              <a:rPr spc="-760"/>
              <a:t> </a:t>
            </a:r>
            <a:r>
              <a:rPr spc="-5"/>
              <a:t>ON </a:t>
            </a:r>
            <a:r>
              <a:t>table_name</a:t>
            </a: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pc="-5"/>
              <a:t>RENAME</a:t>
            </a:r>
            <a:r>
              <a:rPr spc="-70"/>
              <a:t> </a:t>
            </a:r>
            <a:r>
              <a:rPr spc="-25"/>
              <a:t>TO</a:t>
            </a:r>
            <a:r>
              <a:rPr spc="-20"/>
              <a:t> </a:t>
            </a:r>
            <a:r>
              <a:t>new_trigger_name;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260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Example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2219451"/>
            <a:ext cx="6405245" cy="1552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300"/>
              </a:lnSpc>
              <a:spcBef>
                <a:spcPts val="100"/>
              </a:spcBef>
            </a:pPr>
            <a:r>
              <a:rPr sz="2800" spc="-45">
                <a:latin typeface="Arial MT"/>
                <a:cs typeface="Arial MT"/>
              </a:rPr>
              <a:t>ALTER </a:t>
            </a:r>
            <a:r>
              <a:rPr sz="2800" spc="-5">
                <a:latin typeface="Arial MT"/>
                <a:cs typeface="Arial MT"/>
              </a:rPr>
              <a:t>TRIGGER </a:t>
            </a:r>
            <a:r>
              <a:rPr sz="2800">
                <a:latin typeface="Arial MT"/>
                <a:cs typeface="Arial MT"/>
              </a:rPr>
              <a:t>before_update_salary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ON </a:t>
            </a:r>
            <a:r>
              <a:rPr sz="2800">
                <a:latin typeface="Arial MT"/>
                <a:cs typeface="Arial MT"/>
              </a:rPr>
              <a:t>employees</a:t>
            </a: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800" spc="-5">
                <a:latin typeface="Arial MT"/>
                <a:cs typeface="Arial MT"/>
              </a:rPr>
              <a:t>RENAME</a:t>
            </a:r>
            <a:r>
              <a:rPr sz="2800" spc="-70">
                <a:latin typeface="Arial MT"/>
                <a:cs typeface="Arial MT"/>
              </a:rPr>
              <a:t> </a:t>
            </a:r>
            <a:r>
              <a:rPr sz="2800" spc="-25">
                <a:latin typeface="Arial MT"/>
                <a:cs typeface="Arial MT"/>
              </a:rPr>
              <a:t>TO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salary_before_update;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D71570AD13F0224BB1245ED162607349" ma:contentTypeVersion="8" ma:contentTypeDescription="Создание документа." ma:contentTypeScope="" ma:versionID="b34c0b78990df12d174317d7290c462f">
  <xsd:schema xmlns:xsd="http://www.w3.org/2001/XMLSchema" xmlns:xs="http://www.w3.org/2001/XMLSchema" xmlns:p="http://schemas.microsoft.com/office/2006/metadata/properties" xmlns:ns2="14a8a632-e596-4d42-a9cb-ac377c4fa28b" targetNamespace="http://schemas.microsoft.com/office/2006/metadata/properties" ma:root="true" ma:fieldsID="51dadbd8aa9e92f520983c4df36c56ca" ns2:_="">
    <xsd:import namespace="14a8a632-e596-4d42-a9cb-ac377c4fa2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a8a632-e596-4d42-a9cb-ac377c4fa2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9C81E31-E1B9-43E7-9A74-C864ACC373CD}">
  <ds:schemaRefs>
    <ds:schemaRef ds:uri="14a8a632-e596-4d42-a9cb-ac377c4fa28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F0AEAB1-3C65-4A50-93F3-5A0F08C5E37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C50560A-1A3F-4C51-BC36-2659B881821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Lecture 12</vt:lpstr>
      <vt:lpstr>PowerPoint Presentation</vt:lpstr>
      <vt:lpstr>PostgreSQL trigger types</vt:lpstr>
      <vt:lpstr>When to use triggers</vt:lpstr>
      <vt:lpstr>PostgreSQL triggers vs SQL standard triggers</vt:lpstr>
      <vt:lpstr>PostgreSQL CREATE TRIGGER</vt:lpstr>
      <vt:lpstr>Introduction to PostgreSQL CREATE TRIGGER  statement</vt:lpstr>
      <vt:lpstr>PostgreSQL CREATE TRIGGER example</vt:lpstr>
      <vt:lpstr>Example</vt:lpstr>
      <vt:lpstr>Example</vt:lpstr>
      <vt:lpstr>Example</vt:lpstr>
      <vt:lpstr>Example</vt:lpstr>
      <vt:lpstr>Example</vt:lpstr>
      <vt:lpstr>PostgreSQL DROP TRIGGER</vt:lpstr>
      <vt:lpstr>PowerPoint Presentation</vt:lpstr>
      <vt:lpstr>PostgreSQL ALTER TRIGGER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created xsi:type="dcterms:W3CDTF">2024-11-25T17:31:15Z</dcterms:created>
  <dcterms:modified xsi:type="dcterms:W3CDTF">2024-12-24T08:16:23Z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2023-12-06T00:00:00Z</vt:filetime>
  </property>
  <property fmtid="{D5CDD505-2E9C-101B-9397-08002B2CF9AE}" pid="3" name="LastSaved">
    <vt:filetime>2024-11-25T00:00:00Z</vt:filetime>
  </property>
  <property fmtid="{D5CDD505-2E9C-101B-9397-08002B2CF9AE}" pid="4" name="ContentTypeId">
    <vt:lpwstr>0x010100D71570AD13F0224BB1245ED162607349</vt:lpwstr>
  </property>
</Properties>
</file>